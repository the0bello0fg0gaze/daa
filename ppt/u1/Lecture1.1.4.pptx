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5"/>
  </p:notesMasterIdLst>
  <p:sldIdLst>
    <p:sldId id="398" r:id="rId2"/>
    <p:sldId id="399" r:id="rId3"/>
    <p:sldId id="400" r:id="rId4"/>
    <p:sldId id="401" r:id="rId5"/>
    <p:sldId id="393" r:id="rId6"/>
    <p:sldId id="333" r:id="rId7"/>
    <p:sldId id="405" r:id="rId8"/>
    <p:sldId id="391" r:id="rId9"/>
    <p:sldId id="392" r:id="rId10"/>
    <p:sldId id="394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5" r:id="rId20"/>
    <p:sldId id="435" r:id="rId21"/>
    <p:sldId id="436" r:id="rId22"/>
    <p:sldId id="414" r:id="rId23"/>
    <p:sldId id="416" r:id="rId24"/>
    <p:sldId id="417" r:id="rId25"/>
    <p:sldId id="419" r:id="rId26"/>
    <p:sldId id="420" r:id="rId27"/>
    <p:sldId id="421" r:id="rId28"/>
    <p:sldId id="422" r:id="rId29"/>
    <p:sldId id="437" r:id="rId30"/>
    <p:sldId id="438" r:id="rId31"/>
    <p:sldId id="439" r:id="rId32"/>
    <p:sldId id="423" r:id="rId33"/>
    <p:sldId id="424" r:id="rId34"/>
    <p:sldId id="425" r:id="rId35"/>
    <p:sldId id="426" r:id="rId36"/>
    <p:sldId id="427" r:id="rId37"/>
    <p:sldId id="429" r:id="rId38"/>
    <p:sldId id="395" r:id="rId39"/>
    <p:sldId id="396" r:id="rId40"/>
    <p:sldId id="402" r:id="rId41"/>
    <p:sldId id="428" r:id="rId42"/>
    <p:sldId id="403" r:id="rId43"/>
    <p:sldId id="404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0DE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574" autoAdjust="0"/>
    <p:restoredTop sz="94790" autoAdjust="0"/>
  </p:normalViewPr>
  <p:slideViewPr>
    <p:cSldViewPr>
      <p:cViewPr varScale="1">
        <p:scale>
          <a:sx n="72" d="100"/>
          <a:sy n="72" d="100"/>
        </p:scale>
        <p:origin x="-124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8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21E2D30-8D09-4EFF-99BC-7D2BDCF5AD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73791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239491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792918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B6DDF863-FDA7-E1A0-5A09-68D4C1DC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EB03C203-12AC-27B9-3FFA-C7A7D6E50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132BBBB1-2558-D4FE-881C-D2B28D830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2906335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216C3BF0-F04D-CC55-01DE-58461362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E1C26BBB-3EE0-C367-EB17-2F01B758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AED12312-F8C0-DB82-75C0-FC2758C0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042370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BF1E0EE1-A63F-12F4-10BB-2B0C5E51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03949B4A-8DCA-5D8A-F91E-E3E318169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AD7E994A-6713-82F4-3A2F-AD2DA1A7B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801222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7D04F549-C923-1FA6-0572-8E4FDBD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70D34990-FEC3-FB89-4B02-268714D7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47BCAEBB-22C0-CF35-0C48-E613A3B45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123046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D65DF209-F70B-D346-7CAD-F327973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AF278F86-62B3-04BA-72AF-285D9D5D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A2B0163-0369-FCE8-AFFD-EDC379A6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569840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D147491A-4919-2F1D-0F6F-8CDCA0D7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B18FB7EC-7F87-3F2F-DBEA-6A6F91B76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6E50D082-34EA-751E-4314-000B6F1EC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899775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7E3711B1-371D-2583-D61A-67C35F3E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87C593DF-5E72-43B4-DFE4-C87365070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AF3C8862-36D6-FFCC-8D89-0C289A5B8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818074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3E103896-EA66-2A63-0191-6F8310FB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D8ED3CB1-23E7-AA3F-12AD-954EA5704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C9439C9-F903-88F3-01AD-62544D3B7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309823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5435E93B-760C-8ED5-670A-51004776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DF55EDF5-3431-0161-D83B-C6A600AA9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194B9FFF-5686-5341-600F-0E6EFDFCB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766297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98A0F956-2836-53AE-7298-960C2263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CC3691A9-B417-1CE8-3E84-EDD89DEAB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8E3C9CE-FA91-5B92-BC37-8544218FF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798364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70685E72-996B-2BEA-A688-9ECBA370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C543F9C3-1D55-ACDF-6748-46718419B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05FEDEB3-221D-51E0-97F2-0552D87EC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829835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97F1A330-55C8-3CB1-85BD-917D99AA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0F77D44C-443D-818A-A741-FFC2F72D7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0E564296-64CB-5A4B-011D-33241FA3E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500666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EC85C6B1-4BEE-1D54-397D-2D437A7F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FA093FD3-F19E-9FCE-7F75-A2F9EE49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73EFBD06-EF76-C369-F61D-365A40C3F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525681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DC625FE7-AC2F-6DB0-967F-9181FCBC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4E9D4AFF-0C7D-EBE8-E998-6E887C0254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5D300E3-2277-07E3-6341-4FBBC7711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106312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4AEB40FD-5DCE-254B-F8A6-BEB23680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06C6D62C-8EC8-FA8D-72BA-2B29EB894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108D743-9102-FD06-D023-30FC273B7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626357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42E043C8-1055-89B0-88C7-E7A51054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F6B27C4C-0DF8-9D21-5088-108BAA5FD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65267294-B25C-5AC4-BC31-E1C283326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2016390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E807BCBF-DD90-B64B-01B7-0A1A2DCD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BDE9FFBC-85D2-A223-AEB4-0B2048844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F1B5AD55-CFC8-CB3B-1579-CBEB91269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3823761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CA5E151C-78D3-A0D7-3962-203290E1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D32940A3-2D9D-8B02-F3ED-047C9BFDF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D47719C7-9D4B-79C5-F506-D1D37AE5D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484247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4052136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23418237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1F17DA1-C521-4C97-A644-A893F87AA7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6437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D3B6E13-2B10-485D-9E3D-CD80CF9FD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432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E023435-B141-4712-AD5B-06A49B142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521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BAE0A56-81DD-45F5-B745-715D5EC2E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197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D7A9FC-4EA2-46D1-8655-126B66818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018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F8C4F2-F208-454B-BB37-599474484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9819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B7A9A98-CAE0-43DC-91B7-C90C4CE74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807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9B6AFD-A192-4C37-8069-CDFD0FFE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455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FF339FD-0A20-4111-BE35-EE209E012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572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B67E49-63A7-4297-B650-BEE293DA3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23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3E7431C-A18A-4AEE-B702-D32CE53B9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679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4288" y="0"/>
            <a:ext cx="9158288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433014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=""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907" y="29379"/>
            <a:ext cx="652311" cy="13986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81BDB5EE-8F6A-4B33-A544-21414014ED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6" r:id="rId13"/>
    <p:sldLayoutId id="2147483737" r:id="rId14"/>
  </p:sldLayoutIdLst>
  <p:hf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glQN5S9-lc?si=0g26HAB8i7TO1hFc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GQNT0v5zKhE?si=0jfN658mPE41ZFU9" TargetMode="External"/><Relationship Id="rId5" Type="http://schemas.openxmlformats.org/officeDocument/2006/relationships/hyperlink" Target="https://youtu.be/9mjGoOBy8vs?si=aWk8KncPVCHIUD9m" TargetMode="External"/><Relationship Id="rId4" Type="http://schemas.openxmlformats.org/officeDocument/2006/relationships/hyperlink" Target="https://youtu.be/EolP-WNP-Zc?si=7OBaaU35ebbBzd4Y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hDw6VtS7k2r4amVF7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4876800"/>
            <a:ext cx="5186364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7225"/>
            <a:ext cx="2055813" cy="274638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9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>
            <a:extLst/>
          </p:cNvPr>
          <p:cNvSpPr/>
          <p:nvPr/>
        </p:nvSpPr>
        <p:spPr>
          <a:xfrm flipV="1">
            <a:off x="7129463" y="5311775"/>
            <a:ext cx="968375" cy="868363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49" kern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342902" y="3571876"/>
          <a:ext cx="900112" cy="871922"/>
        </p:xfrm>
        <a:graphic>
          <a:graphicData uri="http://schemas.openxmlformats.org/presentationml/2006/ole">
            <p:oleObj spid="_x0000_s35842" name="CorelDRAW" r:id="rId3" imgW="2169000" imgH="2169360" progId="">
              <p:embed/>
            </p:oleObj>
          </a:graphicData>
        </a:graphic>
      </p:graphicFrame>
      <p:sp>
        <p:nvSpPr>
          <p:cNvPr id="37" name="Right Triangle 36">
            <a:extLst/>
          </p:cNvPr>
          <p:cNvSpPr/>
          <p:nvPr/>
        </p:nvSpPr>
        <p:spPr>
          <a:xfrm flipH="1">
            <a:off x="5284787" y="1123950"/>
            <a:ext cx="3859213" cy="438785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49" ker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2376762"/>
            <a:ext cx="5120286" cy="118509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6294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69174" y="5300663"/>
            <a:ext cx="1774825" cy="1557337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76774" y="6350297"/>
            <a:ext cx="3695700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899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99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0" y="5576888"/>
            <a:ext cx="5214938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indent="-15240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b="1" dirty="0" smtClean="0">
                <a:solidFill>
                  <a:prstClr val="black"/>
                </a:solidFill>
                <a:latin typeface="+mn-lt"/>
                <a:ea typeface="Calibri" pitchFamily="34" charset="0"/>
                <a:cs typeface="Calibri" pitchFamily="34" charset="0"/>
              </a:rPr>
              <a:t>Topic-</a:t>
            </a:r>
            <a:r>
              <a:rPr lang="en-US" dirty="0" smtClean="0">
                <a:latin typeface="+mn-lt"/>
                <a:ea typeface="Calibri" pitchFamily="34" charset="0"/>
                <a:cs typeface="Calibri" pitchFamily="34" charset="0"/>
              </a:rPr>
              <a:t> </a:t>
            </a:r>
            <a:r>
              <a:rPr lang="en-US" dirty="0" smtClean="0">
                <a:latin typeface="+mn-lt"/>
                <a:cs typeface="Times New Roman" pitchFamily="18" charset="0"/>
              </a:rPr>
              <a:t>Recurrence Relations </a:t>
            </a:r>
            <a:endParaRPr lang="en-US" dirty="0" smtClean="0">
              <a:latin typeface="+mn-lt"/>
              <a:ea typeface="Calibri" pitchFamily="34" charset="0"/>
              <a:cs typeface="Calibri" pitchFamily="34" charset="0"/>
            </a:endParaRPr>
          </a:p>
          <a:p>
            <a:pPr indent="-152400">
              <a:lnSpc>
                <a:spcPct val="90000"/>
              </a:lnSpc>
              <a:buClr>
                <a:schemeClr val="dk1"/>
              </a:buClr>
              <a:buSzPts val="2400"/>
            </a:pP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indent="-152400" algn="ctr">
              <a:lnSpc>
                <a:spcPct val="90000"/>
              </a:lnSpc>
              <a:buClr>
                <a:schemeClr val="dk1"/>
              </a:buClr>
              <a:buSzPts val="2400"/>
            </a:pP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defTabSz="466534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en-US" sz="1600" b="1" dirty="0">
              <a:solidFill>
                <a:prstClr val="black">
                  <a:lumMod val="85000"/>
                  <a:lumOff val="15000"/>
                </a:prst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7988" y="2100263"/>
            <a:ext cx="8324850" cy="325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APEX INSTITUTE OF TECHNOLOGY</a:t>
            </a:r>
            <a:endParaRPr lang="en-US" altLang="en-US" sz="3500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/>
            <a:r>
              <a:rPr lang="en-IN" alt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DEPARTMENT OF COMPUTER SCIENCE &amp; ENGINEERING</a:t>
            </a:r>
            <a:endParaRPr lang="en-US" altLang="en-US" sz="2100" b="1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400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I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Design and Analysis of Algorithm</a:t>
            </a:r>
          </a:p>
          <a:p>
            <a:pPr algn="ctr">
              <a:spcBef>
                <a:spcPts val="840"/>
              </a:spcBef>
            </a:pPr>
            <a:r>
              <a:rPr lang="en-I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24CSH-282</a:t>
            </a:r>
          </a:p>
          <a:p>
            <a:pPr lvl="0" algn="ctr">
              <a:spcBef>
                <a:spcPts val="840"/>
              </a:spcBef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Master Subject Coordinator-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Er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.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Kriti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Taneja (E13537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)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/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762000" y="230188"/>
            <a:ext cx="7883525" cy="101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Course Objectives</a:t>
            </a:r>
            <a:endParaRPr sz="40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57200" y="1248813"/>
            <a:ext cx="8305800" cy="560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The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Course aims to:</a:t>
            </a:r>
            <a:endParaRPr sz="32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90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The Student will acquire knowledge on Proving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Algorithm 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Correctness.</a:t>
            </a:r>
            <a:endParaRPr sz="24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To analyze and design different algorithms based on different designing approaches.</a:t>
            </a:r>
            <a:endParaRPr sz="2400" b="0" i="0" u="none" strike="noStrike" cap="none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To choose appropriate algorithm design techniques for solving real-time problems.</a:t>
            </a:r>
            <a:endParaRPr sz="2400" b="0" i="0" u="none" strike="noStrike" cap="none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To apply and synthesize efficient algorithms.</a:t>
            </a:r>
            <a:endParaRPr sz="2400" b="0" i="0" u="none" strike="noStrike" cap="none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.</a:t>
            </a:r>
            <a:endParaRPr sz="2000" b="0" i="0" u="none" strike="noStrike" cap="none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1066800" y="479425"/>
            <a:ext cx="7162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Course Outcomes</a:t>
            </a:r>
            <a:endParaRPr sz="400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38199" y="1295400"/>
            <a:ext cx="730567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On completion of this course, the students shall be able to:-</a:t>
            </a:r>
            <a:endParaRPr sz="1800" b="0" i="0" u="none" strike="noStrike" cap="none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514350" y="1801813"/>
          <a:ext cx="8000988" cy="4344883"/>
        </p:xfrm>
        <a:graphic>
          <a:graphicData uri="http://schemas.openxmlformats.org/drawingml/2006/table">
            <a:tbl>
              <a:tblPr bandRow="1"/>
              <a:tblGrid>
                <a:gridCol w="722138"/>
                <a:gridCol w="7278850"/>
              </a:tblGrid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Understand the fundamental concepts of algorithm analysis, ordered notations, recurrence relations, greedy methods, and backtracking techniques.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CO2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Apply various sorting algorithms, searching algorithms, graph algorithms and algorithmic techniques to solve computational problems effectively.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CO3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Analyze the performance and efficiency of different algorithms in various scenarios, various classes for complex problems like P, NP and NP Complete, NP Hard.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CO4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Evaluate and compare algorithmic strategies including dynamic programming, divide-and-conquer, greedy methods and Branch &amp; Bound.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CO5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Design and implement optimized solutions for complex problems using advanced algorithmic techniques. 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7213" y="271463"/>
            <a:ext cx="7883525" cy="6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Unit-1 Syllabus</a:t>
            </a:r>
            <a:endParaRPr sz="400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132" name="Google Shape;132;p4"/>
          <p:cNvGraphicFramePr/>
          <p:nvPr/>
        </p:nvGraphicFramePr>
        <p:xfrm>
          <a:off x="323851" y="1643062"/>
          <a:ext cx="8058149" cy="47577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84771"/>
                <a:gridCol w="4299907"/>
                <a:gridCol w="1173471"/>
              </a:tblGrid>
              <a:tr h="7136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UNIT-1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Introduction, Algorithm Design Techniques, Back Tracking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Contact Hours:15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96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Introduction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Ordered Notations, Inductions, Pigeon hole principles, </a:t>
                      </a:r>
                      <a:r>
                        <a:rPr lang="en-US" sz="1600" b="1" u="sng" strike="noStrike" cap="none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Recurrence </a:t>
                      </a:r>
                      <a:r>
                        <a:rPr lang="en-US" sz="1600" b="1" u="sng" strike="noStrike" cap="none" dirty="0" smtClean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Relations</a:t>
                      </a:r>
                      <a:endParaRPr sz="1600" b="1" u="sng" strike="noStrike" cap="none">
                        <a:solidFill>
                          <a:srgbClr val="C00000"/>
                        </a:solidFill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708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Algorithm Design Techniques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Greedy Algorithms for Knapsack Fractional Problem, Job Sequencing Problem with the deadline, Huffman Coding, Amortization, Optimal Algorithms.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361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Back Tracking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Understanding of Back Tracking, Recursive Back Tracking, Iterative Back Tracking, N-Queen’s Problem, Hamiltonian Cycle, Knight’s Tour Problem, Lower –Bound Theory.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Topic to</a:t>
            </a:r>
            <a:r>
              <a:rPr lang="en-US" sz="4000" b="1" spc="-60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sz="4000" b="1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be</a:t>
            </a:r>
            <a:r>
              <a:rPr lang="en-US" sz="4000" b="1" spc="25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sz="4000" b="1" spc="-10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Covered</a:t>
            </a:r>
            <a:endParaRPr lang="en-IN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u="sng" dirty="0" smtClean="0">
                <a:ea typeface="Calibri"/>
                <a:cs typeface="Times New Roman" pitchFamily="18" charset="0"/>
              </a:rPr>
              <a:t> </a:t>
            </a:r>
            <a:r>
              <a:rPr lang="en-IN" sz="2400" dirty="0" smtClean="0">
                <a:ea typeface="Calibri"/>
                <a:cs typeface="Times New Roman" pitchFamily="18" charset="0"/>
              </a:rPr>
              <a:t>Recurrence Relations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000000"/>
                </a:solidFill>
                <a:cs typeface="Calibri" panose="020F0502020204030204" pitchFamily="34" charset="0"/>
              </a:rPr>
              <a:t>Substitution method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000000"/>
                </a:solidFill>
                <a:cs typeface="Calibri" panose="020F0502020204030204" pitchFamily="34" charset="0"/>
              </a:rPr>
              <a:t>Recursion-tree method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000000"/>
                </a:solidFill>
                <a:cs typeface="Calibri" panose="020F0502020204030204" pitchFamily="34" charset="0"/>
              </a:rPr>
              <a:t>Master method</a:t>
            </a:r>
            <a:endParaRPr lang="en-US" sz="2400" dirty="0"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506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762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IN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Recurrence Relations</a:t>
            </a:r>
            <a:endParaRPr lang="en-US" sz="4000" b="1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447800"/>
            <a:ext cx="8610600" cy="54102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dirty="0" smtClean="0"/>
              <a:t>   </a:t>
            </a:r>
            <a:r>
              <a:rPr lang="en-US" sz="2400" dirty="0" smtClean="0">
                <a:cs typeface="Times New Roman" panose="02020603050405020304" pitchFamily="18" charset="0"/>
              </a:rPr>
              <a:t>A </a:t>
            </a:r>
            <a:r>
              <a:rPr lang="en-US" sz="2400" b="1" dirty="0" smtClean="0">
                <a:cs typeface="Times New Roman" panose="02020603050405020304" pitchFamily="18" charset="0"/>
              </a:rPr>
              <a:t>recurrence relation</a:t>
            </a:r>
            <a:r>
              <a:rPr lang="en-US" sz="2400" dirty="0" smtClean="0">
                <a:cs typeface="Times New Roman" panose="02020603050405020304" pitchFamily="18" charset="0"/>
              </a:rPr>
              <a:t> is an equation that defines a sequence of values using </a:t>
            </a:r>
            <a:r>
              <a:rPr lang="en-US" sz="2400" b="1" dirty="0" smtClean="0">
                <a:cs typeface="Times New Roman" panose="02020603050405020304" pitchFamily="18" charset="0"/>
              </a:rPr>
              <a:t>previous terms</a:t>
            </a:r>
            <a:r>
              <a:rPr lang="en-US" sz="2400" dirty="0" smtClean="0">
                <a:cs typeface="Times New Roman" panose="02020603050405020304" pitchFamily="18" charset="0"/>
              </a:rPr>
              <a:t> of the sequence. In simpler words, it expresses the solution of a problem in terms of </a:t>
            </a:r>
            <a:r>
              <a:rPr lang="en-US" sz="2400" b="1" dirty="0" smtClean="0">
                <a:cs typeface="Times New Roman" panose="02020603050405020304" pitchFamily="18" charset="0"/>
              </a:rPr>
              <a:t>smaller instances</a:t>
            </a:r>
            <a:r>
              <a:rPr lang="en-US" sz="2400" dirty="0" smtClean="0">
                <a:cs typeface="Times New Roman" panose="02020603050405020304" pitchFamily="18" charset="0"/>
              </a:rPr>
              <a:t> of the same problem.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 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44;p23">
            <a:extLst>
              <a:ext uri="{FF2B5EF4-FFF2-40B4-BE49-F238E27FC236}">
                <a16:creationId xmlns="" xmlns:a16="http://schemas.microsoft.com/office/drawing/2014/main" id="{2E2B661B-AFC8-0E5A-5E53-EFF0CAACE108}"/>
              </a:ext>
            </a:extLst>
          </p:cNvPr>
          <p:cNvSpPr txBox="1">
            <a:spLocks/>
          </p:cNvSpPr>
          <p:nvPr/>
        </p:nvSpPr>
        <p:spPr>
          <a:xfrm>
            <a:off x="833700" y="206718"/>
            <a:ext cx="7924800" cy="88578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Definition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45;p23">
            <a:extLst>
              <a:ext uri="{FF2B5EF4-FFF2-40B4-BE49-F238E27FC236}">
                <a16:creationId xmlns="" xmlns:a16="http://schemas.microsoft.com/office/drawing/2014/main" id="{AF2D5C67-94FD-3D72-4B6D-CE9CEF01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57866"/>
            <a:ext cx="7996500" cy="51477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recurrence relation, T(n), is a recursive function of integer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variable 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Like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recursive functions, it has both recursive case and base case.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Example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="" xmlns:a16="http://schemas.microsoft.com/office/drawing/2014/main" id="{50282D11-8BE1-9AF4-1A15-D0E6DBC06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86200"/>
            <a:ext cx="5246688" cy="244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59646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534400" cy="854075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Components of a Recurrence Relation</a:t>
            </a:r>
            <a:endParaRPr lang="en-US" sz="4000" b="1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924800" cy="5486400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  <a:buNone/>
            </a:pPr>
            <a:r>
              <a:rPr lang="en-US" sz="3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It has 2 main components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</a:p>
          <a:p>
            <a:pPr algn="just">
              <a:lnSpc>
                <a:spcPct val="160000"/>
              </a:lnSpc>
              <a:buNone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Recurrence Equation (Relation)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 algn="just">
              <a:lnSpc>
                <a:spcPct val="160000"/>
              </a:lnSpc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This part defines how the 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current term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of the sequence depends on 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previous terms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algn="just">
              <a:lnSpc>
                <a:spcPct val="160000"/>
              </a:lnSpc>
              <a:buNone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Initial Condition(s)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 algn="just">
              <a:lnSpc>
                <a:spcPct val="160000"/>
              </a:lnSpc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These are the 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starting values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needed to compute the rest of the sequence.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125"/>
            <a:ext cx="7905750" cy="701675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Types of Recurrence Relations</a:t>
            </a:r>
            <a:endParaRPr lang="en-US" sz="4000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cs typeface="Times New Roman" panose="02020603050405020304" pitchFamily="18" charset="0"/>
              </a:rPr>
              <a:t>Linear </a:t>
            </a:r>
            <a:r>
              <a:rPr lang="en-US" sz="2400" b="1" dirty="0">
                <a:cs typeface="Times New Roman" panose="02020603050405020304" pitchFamily="18" charset="0"/>
              </a:rPr>
              <a:t>Recurrence </a:t>
            </a:r>
            <a:r>
              <a:rPr lang="en-US" sz="2400" b="1" dirty="0" smtClean="0">
                <a:cs typeface="Times New Roman" panose="02020603050405020304" pitchFamily="18" charset="0"/>
              </a:rPr>
              <a:t>Relation</a:t>
            </a: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A </a:t>
            </a:r>
            <a:r>
              <a:rPr lang="en-US" sz="2400" dirty="0">
                <a:cs typeface="Times New Roman" panose="02020603050405020304" pitchFamily="18" charset="0"/>
              </a:rPr>
              <a:t>linear recurrence relation is a recurrence relation in which each term is a linear combination of previous terms.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cs typeface="Times New Roman" panose="02020603050405020304" pitchFamily="18" charset="0"/>
              </a:rPr>
              <a:t> Example:</a:t>
            </a:r>
            <a:r>
              <a:rPr lang="en-US" sz="2400" dirty="0" smtClean="0">
                <a:cs typeface="Times New Roman" panose="02020603050405020304" pitchFamily="18" charset="0"/>
              </a:rPr>
              <a:t>     a</a:t>
            </a:r>
            <a:r>
              <a:rPr lang="en-US" sz="2400" dirty="0">
                <a:cs typeface="Times New Roman" panose="02020603050405020304" pitchFamily="18" charset="0"/>
              </a:rPr>
              <a:t>ₙ = 3aₙ₋₁ + 2aₙ₋₂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Non-Linear Recurrence Relation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A </a:t>
            </a:r>
            <a:r>
              <a:rPr lang="en-US" sz="2400" dirty="0">
                <a:cs typeface="Times New Roman" panose="02020603050405020304" pitchFamily="18" charset="0"/>
              </a:rPr>
              <a:t>non-linear recurrence relation is a recurrence relation in </a:t>
            </a:r>
            <a:r>
              <a:rPr lang="en-US" sz="2400" dirty="0" smtClean="0">
                <a:cs typeface="Times New Roman" panose="02020603050405020304" pitchFamily="18" charset="0"/>
              </a:rPr>
              <a:t>    which </a:t>
            </a:r>
            <a:r>
              <a:rPr lang="en-US" sz="2400" dirty="0">
                <a:cs typeface="Times New Roman" panose="02020603050405020304" pitchFamily="18" charset="0"/>
              </a:rPr>
              <a:t>the terms are combined in a non-linear way (multiplication, powers, division, etc.).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 smtClean="0">
                <a:cs typeface="Times New Roman" panose="02020603050405020304" pitchFamily="18" charset="0"/>
              </a:rPr>
              <a:t> Example:</a:t>
            </a:r>
            <a:r>
              <a:rPr lang="en-US" sz="2400" dirty="0" smtClean="0">
                <a:cs typeface="Times New Roman" panose="02020603050405020304" pitchFamily="18" charset="0"/>
              </a:rPr>
              <a:t>   a</a:t>
            </a:r>
            <a:r>
              <a:rPr lang="en-US" sz="2400" dirty="0">
                <a:cs typeface="Times New Roman" panose="02020603050405020304" pitchFamily="18" charset="0"/>
              </a:rPr>
              <a:t>ₙ = aₙ₋₁ · aₙ₋₂ + </a:t>
            </a:r>
            <a:r>
              <a:rPr lang="en-US" sz="2400" dirty="0" smtClean="0">
                <a:cs typeface="Times New Roman" panose="02020603050405020304" pitchFamily="18" charset="0"/>
              </a:rPr>
              <a:t>1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Examples </a:t>
            </a:r>
            <a:r>
              <a:rPr lang="en-US" sz="4000" b="1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Recurrence Relations</a:t>
            </a:r>
            <a:endParaRPr lang="en-IN" sz="3600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22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81200"/>
            <a:ext cx="6705600" cy="4626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89420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Methods to solve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3B6E13-2B10-485D-9E3D-CD80CF9FDE7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209800"/>
            <a:ext cx="5562600" cy="3956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44;p23">
            <a:extLst>
              <a:ext uri="{FF2B5EF4-FFF2-40B4-BE49-F238E27FC236}">
                <a16:creationId xmlns="" xmlns:a16="http://schemas.microsoft.com/office/drawing/2014/main" id="{950CCF8A-E0EF-9008-BF33-612BA7B53953}"/>
              </a:ext>
            </a:extLst>
          </p:cNvPr>
          <p:cNvSpPr txBox="1">
            <a:spLocks/>
          </p:cNvSpPr>
          <p:nvPr/>
        </p:nvSpPr>
        <p:spPr>
          <a:xfrm>
            <a:off x="833700" y="262767"/>
            <a:ext cx="7924800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Iteration method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8" name="Google Shape;145;p23">
            <a:extLst>
              <a:ext uri="{FF2B5EF4-FFF2-40B4-BE49-F238E27FC236}">
                <a16:creationId xmlns="" xmlns:a16="http://schemas.microsoft.com/office/drawing/2014/main" id="{348D5506-614E-2F28-27CE-00FF56C22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8001000" cy="49357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I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 </a:t>
            </a:r>
            <a:r>
              <a:rPr kumimoji="0" lang="en-IN" altLang="en-US" sz="28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</a:t>
            </a:r>
            <a:r>
              <a:rPr kumimoji="0" lang="en-I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Steps</a:t>
            </a:r>
            <a:r>
              <a:rPr kumimoji="0" lang="en-I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kumimoji="0" lang="en-I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Expand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recurrence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Express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expansion as a summation by plugging the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recurrence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back into itself until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you see a pattern.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Evaluate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summation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65719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44933500-B399-F8C3-BBF3-BC55153C31FC}"/>
              </a:ext>
            </a:extLst>
          </p:cNvPr>
          <p:cNvSpPr txBox="1">
            <a:spLocks/>
          </p:cNvSpPr>
          <p:nvPr/>
        </p:nvSpPr>
        <p:spPr>
          <a:xfrm>
            <a:off x="968776" y="525019"/>
            <a:ext cx="7924800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1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="" xmlns:a16="http://schemas.microsoft.com/office/drawing/2014/main" id="{B66222D3-C642-C911-298F-C692A2990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828800"/>
            <a:ext cx="8448675" cy="38608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149937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22D4630D-5E5F-D3FA-CDC7-7CECA7A5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0693CEED-5F0D-2C09-6CB6-1C7A28042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DBC3F246-4E0B-7CD7-B88D-AE985D1C4C5B}"/>
              </a:ext>
            </a:extLst>
          </p:cNvPr>
          <p:cNvSpPr txBox="1">
            <a:spLocks/>
          </p:cNvSpPr>
          <p:nvPr/>
        </p:nvSpPr>
        <p:spPr>
          <a:xfrm>
            <a:off x="968776" y="525019"/>
            <a:ext cx="7924800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2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="" xmlns:a16="http://schemas.microsoft.com/office/drawing/2014/main" id="{B58300ED-CFAB-927D-7E6A-854969BDC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8238" y="1578633"/>
            <a:ext cx="6867525" cy="4521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15774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D2D565F7-7B58-5C3B-FCDC-E6C0CFEF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5F31FAFF-7FEE-BA83-A704-9D5C6DCD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23E5AF78-A635-69DA-44A2-8D492D9D6489}"/>
              </a:ext>
            </a:extLst>
          </p:cNvPr>
          <p:cNvSpPr txBox="1">
            <a:spLocks/>
          </p:cNvSpPr>
          <p:nvPr/>
        </p:nvSpPr>
        <p:spPr>
          <a:xfrm>
            <a:off x="968776" y="262767"/>
            <a:ext cx="7417724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3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="" xmlns:a16="http://schemas.microsoft.com/office/drawing/2014/main" id="{D3E5307D-A35C-5776-1836-F52F55F05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8777" y="1419883"/>
            <a:ext cx="7596035" cy="48387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253712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DEEC0536-BF5D-71F0-87EA-F1E1B41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DFCDD88A-2ADF-8A48-80BA-D52FEC540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6FC347-4E4A-88DB-6E35-D5B4F5CD37AD}"/>
              </a:ext>
            </a:extLst>
          </p:cNvPr>
          <p:cNvSpPr txBox="1">
            <a:spLocks/>
          </p:cNvSpPr>
          <p:nvPr/>
        </p:nvSpPr>
        <p:spPr>
          <a:xfrm>
            <a:off x="968776" y="262767"/>
            <a:ext cx="7640748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4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FF05D64-4087-D9CF-D2EB-54825E81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1224" y="1527833"/>
            <a:ext cx="7867277" cy="46228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313450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57FE174C-2C6C-BACB-E1EF-E7CF8749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039610BC-42CA-7267-440D-E771D9DD4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B0AAC530-2D53-C0F4-52AC-9D656B5BBE0F}"/>
              </a:ext>
            </a:extLst>
          </p:cNvPr>
          <p:cNvSpPr txBox="1">
            <a:spLocks/>
          </p:cNvSpPr>
          <p:nvPr/>
        </p:nvSpPr>
        <p:spPr>
          <a:xfrm>
            <a:off x="965200" y="262767"/>
            <a:ext cx="7644324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5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4762089-1ABB-D5EB-BD49-CB87DE1E7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2381" y="1599900"/>
            <a:ext cx="7849962" cy="418253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649321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2A18E393-2F51-EB19-24F3-365F9B67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B7625D6E-BE07-D5DE-44E0-C5F84CC86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B3225068-7C1F-FF91-619C-37F939B72903}"/>
              </a:ext>
            </a:extLst>
          </p:cNvPr>
          <p:cNvSpPr txBox="1">
            <a:spLocks/>
          </p:cNvSpPr>
          <p:nvPr/>
        </p:nvSpPr>
        <p:spPr>
          <a:xfrm>
            <a:off x="1600200" y="114649"/>
            <a:ext cx="6402658" cy="56717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6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26473975-A8C5-7279-AE0F-51DDFC1E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8600" y="825849"/>
            <a:ext cx="6731000" cy="568951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3229634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5EDD4AF3-DA94-D6A0-2AC4-E934CDB0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19BE66D1-0307-3CB4-53A4-1023590A6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44;p23">
            <a:extLst>
              <a:ext uri="{FF2B5EF4-FFF2-40B4-BE49-F238E27FC236}">
                <a16:creationId xmlns="" xmlns:a16="http://schemas.microsoft.com/office/drawing/2014/main" id="{5FC6A187-6749-FC01-D405-47ED74FB996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7775824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of Substitution Method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="" xmlns:a16="http://schemas.microsoft.com/office/drawing/2014/main" id="{5C526012-9F90-F713-A33F-1F623EEB84D1}"/>
              </a:ext>
            </a:extLst>
          </p:cNvPr>
          <p:cNvSpPr txBox="1">
            <a:spLocks/>
          </p:cNvSpPr>
          <p:nvPr/>
        </p:nvSpPr>
        <p:spPr bwMode="auto">
          <a:xfrm>
            <a:off x="762000" y="990600"/>
            <a:ext cx="7848600" cy="5867400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b="1" dirty="0" smtClean="0"/>
              <a:t>Given Recurrence</a:t>
            </a:r>
          </a:p>
          <a:p>
            <a:pPr>
              <a:buNone/>
            </a:pPr>
            <a:r>
              <a:rPr lang="pt-BR" dirty="0" smtClean="0"/>
              <a:t>T(n)=2T(n/2)+n</a:t>
            </a:r>
            <a:endParaRPr lang="pt-BR" dirty="0" smtClean="0"/>
          </a:p>
          <a:p>
            <a:pPr>
              <a:buNone/>
            </a:pPr>
            <a:r>
              <a:rPr lang="en-US" b="1" dirty="0" smtClean="0"/>
              <a:t>Step 1: Substitute repeatedly</a:t>
            </a:r>
          </a:p>
          <a:p>
            <a:pPr>
              <a:buNone/>
            </a:pPr>
            <a:r>
              <a:rPr lang="en-US" dirty="0" smtClean="0"/>
              <a:t>Start expanding the recurrence: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3048000"/>
            <a:ext cx="5945187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42890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00" y="609600"/>
            <a:ext cx="8001000" cy="56390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Step 2: Reach the base case</a:t>
            </a:r>
          </a:p>
          <a:p>
            <a:pPr>
              <a:buNone/>
            </a:pPr>
            <a:r>
              <a:rPr lang="en-US" dirty="0" smtClean="0"/>
              <a:t>The recursion stops when: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133600"/>
            <a:ext cx="7611282" cy="3211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00" y="381000"/>
            <a:ext cx="8001000" cy="5867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Step 3: Final Result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143478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85EE71D1-7E4C-9A19-B1B0-FFE86311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D973ED05-330D-6F74-8DBD-D04B781EE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44;p23">
            <a:extLst>
              <a:ext uri="{FF2B5EF4-FFF2-40B4-BE49-F238E27FC236}">
                <a16:creationId xmlns="" xmlns:a16="http://schemas.microsoft.com/office/drawing/2014/main" id="{7EBA843C-DDCC-E734-6586-83D23E4A8036}"/>
              </a:ext>
            </a:extLst>
          </p:cNvPr>
          <p:cNvSpPr txBox="1">
            <a:spLocks/>
          </p:cNvSpPr>
          <p:nvPr/>
        </p:nvSpPr>
        <p:spPr>
          <a:xfrm>
            <a:off x="1077022" y="319474"/>
            <a:ext cx="7915940" cy="75609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Substitution Method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="" xmlns:a16="http://schemas.microsoft.com/office/drawing/2014/main" id="{97434DEC-C61B-D29D-1634-58FE99C1161F}"/>
              </a:ext>
            </a:extLst>
          </p:cNvPr>
          <p:cNvSpPr txBox="1">
            <a:spLocks/>
          </p:cNvSpPr>
          <p:nvPr/>
        </p:nvSpPr>
        <p:spPr bwMode="auto">
          <a:xfrm>
            <a:off x="991962" y="1132274"/>
            <a:ext cx="8001000" cy="5268527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</a:t>
            </a:r>
            <a:r>
              <a:rPr kumimoji="0" lang="en-I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substitution method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“making a good guess method”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Guess the form of the answer, then use induction to find the constants and show that solution works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an 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merge sort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T(n) = 2T(n/2) +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cn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guess that the answer is O(n lg n)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Prove it by induction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similarly show T(n) =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Ω(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lg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n), thus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Θ(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lg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0678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AFD339BC-2988-866F-6816-068F5066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57540205-E2A2-B070-97D2-4A2AAA40F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7CAC7071-8694-CB53-A166-A294E0F9F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101600"/>
            <a:ext cx="6553200" cy="6756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700405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D733F852-A886-8227-6767-5F182C71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8AB50379-C410-4336-E07F-3787939FE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4;p23">
            <a:extLst>
              <a:ext uri="{FF2B5EF4-FFF2-40B4-BE49-F238E27FC236}">
                <a16:creationId xmlns="" xmlns:a16="http://schemas.microsoft.com/office/drawing/2014/main" id="{2D030AE6-EE26-B6A1-6205-0FDBB14A5A24}"/>
              </a:ext>
            </a:extLst>
          </p:cNvPr>
          <p:cNvSpPr txBox="1">
            <a:spLocks/>
          </p:cNvSpPr>
          <p:nvPr/>
        </p:nvSpPr>
        <p:spPr>
          <a:xfrm>
            <a:off x="833700" y="262767"/>
            <a:ext cx="7775824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Recursive Tree Methods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145;p23">
            <a:extLst>
              <a:ext uri="{FF2B5EF4-FFF2-40B4-BE49-F238E27FC236}">
                <a16:creationId xmlns="" xmlns:a16="http://schemas.microsoft.com/office/drawing/2014/main" id="{406BE2E0-7107-5129-ECE3-11BA1BB0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7800"/>
            <a:ext cx="7850592" cy="4800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recursion tree models the costs (time) of a recursive execution of an algorithm.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Recursion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Method which is in the form of a tree where at each level nodes are expanded.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422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23AD1DFA-BF2D-423C-6FCE-C60D21CB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2C968E45-3CF5-EB52-8888-A973220A3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487DC72F-9D4D-B20F-4BC9-6416634F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0500" y="105834"/>
            <a:ext cx="6845300" cy="658283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4068084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105613DB-D0BD-8C12-42AC-E4D2621F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6D19136F-C4FB-C8A2-A114-0C94C2357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C23143F-3C13-8FCC-22A7-646F13707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319833"/>
            <a:ext cx="6057900" cy="618066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2067149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69B0372F-46B3-7D97-AF80-FBA9A7D1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476DC9BD-3FFF-4DEB-FE1D-ACBFA17E1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="" xmlns:a16="http://schemas.microsoft.com/office/drawing/2014/main" id="{42912391-F067-E66B-15C5-5E5F7A7F0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"/>
            <a:ext cx="5676900" cy="663786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2912708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E59DC6C1-C240-1F2B-13CF-98F1D341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0B0BC790-8590-0838-EB52-DA60FB178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44;p23">
            <a:extLst>
              <a:ext uri="{FF2B5EF4-FFF2-40B4-BE49-F238E27FC236}">
                <a16:creationId xmlns="" xmlns:a16="http://schemas.microsoft.com/office/drawing/2014/main" id="{9EE9E5F1-E557-D6E0-CDAC-224877DE91CF}"/>
              </a:ext>
            </a:extLst>
          </p:cNvPr>
          <p:cNvSpPr txBox="1">
            <a:spLocks/>
          </p:cNvSpPr>
          <p:nvPr/>
        </p:nvSpPr>
        <p:spPr>
          <a:xfrm>
            <a:off x="1034492" y="234414"/>
            <a:ext cx="7575032" cy="70132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Example of recursion tree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970C017-B591-A6B6-0251-B3E03843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12" y="1352015"/>
            <a:ext cx="7935848" cy="5082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668146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"/>
            <a:ext cx="7886700" cy="990600"/>
          </a:xfrm>
        </p:spPr>
        <p:txBody>
          <a:bodyPr/>
          <a:lstStyle/>
          <a:p>
            <a:pPr lvl="0" algn="ctr"/>
            <a:r>
              <a:rPr lang="en-IN" sz="4000" b="1" dirty="0" smtClean="0">
                <a:solidFill>
                  <a:srgbClr val="C00000"/>
                </a:solidFill>
                <a:latin typeface="+mn-lt"/>
              </a:rPr>
              <a:t>The Master Theorem</a:t>
            </a:r>
            <a:r>
              <a:rPr lang="en-IN" sz="3600" b="1" dirty="0" smtClean="0">
                <a:solidFill>
                  <a:srgbClr val="C00000"/>
                </a:solidFill>
                <a:ea typeface="Cambria"/>
                <a:cs typeface="Cambria"/>
                <a:sym typeface="Cambria"/>
              </a:rPr>
              <a:t/>
            </a:r>
            <a:br>
              <a:rPr lang="en-IN" sz="3600" b="1" dirty="0" smtClean="0">
                <a:solidFill>
                  <a:srgbClr val="C00000"/>
                </a:solidFill>
                <a:ea typeface="Cambria"/>
                <a:cs typeface="Cambria"/>
                <a:sym typeface="Cambria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0" y="1600200"/>
            <a:ext cx="7753350" cy="4572000"/>
          </a:xfrm>
        </p:spPr>
        <p:txBody>
          <a:bodyPr/>
          <a:lstStyle/>
          <a:p>
            <a:pPr>
              <a:buNone/>
            </a:pPr>
            <a:r>
              <a:rPr lang="pt-BR" sz="2400" b="1" dirty="0" smtClean="0"/>
              <a:t>Given Recurrence</a:t>
            </a:r>
          </a:p>
          <a:p>
            <a:pPr>
              <a:buNone/>
            </a:pPr>
            <a:r>
              <a:rPr lang="pt-BR" sz="2400" dirty="0" smtClean="0"/>
              <a:t>T(n)=2T(n/2)+n</a:t>
            </a:r>
          </a:p>
          <a:p>
            <a:pPr>
              <a:buNone/>
            </a:pPr>
            <a:r>
              <a:rPr lang="en-US" sz="2400" b="1" dirty="0" smtClean="0"/>
              <a:t>Step 1: Compare with Master Theorem form</a:t>
            </a:r>
          </a:p>
          <a:p>
            <a:pPr>
              <a:buNone/>
            </a:pPr>
            <a:r>
              <a:rPr lang="en-US" sz="2400" dirty="0" smtClean="0"/>
              <a:t>Standard form: T(n)=</a:t>
            </a:r>
            <a:r>
              <a:rPr lang="en-US" sz="2400" dirty="0" err="1" smtClean="0"/>
              <a:t>aT</a:t>
            </a:r>
            <a:r>
              <a:rPr lang="en-US" sz="2400" dirty="0" smtClean="0"/>
              <a:t>(n/b)+f(n)</a:t>
            </a:r>
          </a:p>
          <a:p>
            <a:pPr>
              <a:buNone/>
            </a:pPr>
            <a:r>
              <a:rPr lang="en-US" sz="2400" dirty="0" smtClean="0"/>
              <a:t>From the given recurrence:</a:t>
            </a:r>
          </a:p>
          <a:p>
            <a:r>
              <a:rPr lang="en-US" sz="2400" dirty="0" smtClean="0"/>
              <a:t>a=2</a:t>
            </a:r>
          </a:p>
          <a:p>
            <a:r>
              <a:rPr lang="en-US" sz="2400" dirty="0" smtClean="0"/>
              <a:t>b=2</a:t>
            </a:r>
          </a:p>
          <a:p>
            <a:r>
              <a:rPr lang="en-US" sz="2400" dirty="0" smtClean="0"/>
              <a:t>f(n)=n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066800"/>
            <a:ext cx="7443156" cy="4630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76218" y="1905000"/>
            <a:ext cx="7636560" cy="354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8A655024-8F37-68D8-62A1-8B6E1CC2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92D62E0C-97AD-EBE0-513E-C550F80A9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4;p23">
            <a:extLst>
              <a:ext uri="{FF2B5EF4-FFF2-40B4-BE49-F238E27FC236}">
                <a16:creationId xmlns="" xmlns:a16="http://schemas.microsoft.com/office/drawing/2014/main" id="{06A949EA-DCF2-3DF4-5FFF-6C7CD4AD3622}"/>
              </a:ext>
            </a:extLst>
          </p:cNvPr>
          <p:cNvSpPr txBox="1">
            <a:spLocks/>
          </p:cNvSpPr>
          <p:nvPr/>
        </p:nvSpPr>
        <p:spPr>
          <a:xfrm>
            <a:off x="927100" y="262767"/>
            <a:ext cx="7924800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The Master Theorem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="" xmlns:a16="http://schemas.microsoft.com/office/drawing/2014/main" id="{404B0AA9-3B2C-03D8-A81D-7713E90D7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7010400" cy="50119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</a:t>
            </a:r>
            <a:r>
              <a:rPr kumimoji="0" lang="en-US" altLang="en-US" sz="2400" b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a divide and conquer </a:t>
            </a:r>
            <a:r>
              <a:rPr kumimoji="0" lang="en-US" altLang="en-US" sz="2400" b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algorithm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algorithm that divides the problem of size 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into 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altLang="en-US" sz="2400" b="0" i="1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subproblems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each of size 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b.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Let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cost of each stage (i.e., the work to divide 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problem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+ combine solved subproblems) be 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described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by the function </a:t>
            </a:r>
            <a:r>
              <a:rPr kumimoji="0" lang="en-IN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f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(n</a:t>
            </a:r>
            <a:r>
              <a:rPr kumimoji="0" lang="en-I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).</a:t>
            </a: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91100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3DCC85DA-2E01-C06F-F84B-DB0DF80B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CD343E69-9D6D-16AE-A4CE-F872DF606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1ADE67D3-3302-4AA1-40C6-34D0C7FC3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3125" y="1456268"/>
            <a:ext cx="7397750" cy="313901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681622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B79A44AB-CC77-C8E4-6199-40F8F045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675BF5B6-B020-49C3-C231-996E7CE2C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FDCB8B57-1307-3709-EE44-A2A900925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77800"/>
            <a:ext cx="7691700" cy="618913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="" xmlns:p14="http://schemas.microsoft.com/office/powerpoint/2010/main" val="2331853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1878400A-9088-4075-7485-0975BBBE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B605FD04-682E-8440-59DF-77F54839A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4;p23">
            <a:extLst>
              <a:ext uri="{FF2B5EF4-FFF2-40B4-BE49-F238E27FC236}">
                <a16:creationId xmlns="" xmlns:a16="http://schemas.microsoft.com/office/drawing/2014/main" id="{D395FAF2-D050-F19E-DB9D-40FB4BFA9567}"/>
              </a:ext>
            </a:extLst>
          </p:cNvPr>
          <p:cNvSpPr txBox="1">
            <a:spLocks/>
          </p:cNvSpPr>
          <p:nvPr/>
        </p:nvSpPr>
        <p:spPr>
          <a:xfrm>
            <a:off x="1105901" y="262767"/>
            <a:ext cx="7503623" cy="71047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The Master Theorem (Contd..)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="" xmlns:a16="http://schemas.microsoft.com/office/drawing/2014/main" id="{BA4A5576-5618-2869-A9A7-E97164A6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1" y="997251"/>
            <a:ext cx="7503623" cy="545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497200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88ABB716-1569-B74C-99EB-D7F50B16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AE12E8A5-A7D9-4809-D7EF-7DB3029EE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4;p23">
            <a:extLst>
              <a:ext uri="{FF2B5EF4-FFF2-40B4-BE49-F238E27FC236}">
                <a16:creationId xmlns="" xmlns:a16="http://schemas.microsoft.com/office/drawing/2014/main" id="{40303101-C0C4-9F23-81F8-38709201E3AA}"/>
              </a:ext>
            </a:extLst>
          </p:cNvPr>
          <p:cNvSpPr txBox="1">
            <a:spLocks/>
          </p:cNvSpPr>
          <p:nvPr/>
        </p:nvSpPr>
        <p:spPr>
          <a:xfrm>
            <a:off x="882876" y="118619"/>
            <a:ext cx="7726649" cy="81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Using the Master Theorem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54FCE39-3349-59D6-EA21-132B3B311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83" y="1022437"/>
            <a:ext cx="7726649" cy="537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535554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Need of Recurrence Relations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 smtClean="0"/>
              <a:t>To represent the running time of recursive and divide-and-conquer algorithms.</a:t>
            </a:r>
          </a:p>
          <a:p>
            <a:pPr algn="just"/>
            <a:r>
              <a:rPr lang="en-US" sz="2400" dirty="0" smtClean="0"/>
              <a:t>To break complex problems into smaller </a:t>
            </a:r>
            <a:r>
              <a:rPr lang="en-US" sz="2400" dirty="0" err="1" smtClean="0"/>
              <a:t>subproblems</a:t>
            </a:r>
            <a:r>
              <a:rPr lang="en-US" sz="2400" dirty="0" smtClean="0"/>
              <a:t> mathematically.</a:t>
            </a:r>
          </a:p>
          <a:p>
            <a:pPr algn="just"/>
            <a:r>
              <a:rPr lang="en-US" sz="2400" dirty="0" smtClean="0"/>
              <a:t>To analyze time complexity in a systematic and structured way.</a:t>
            </a:r>
          </a:p>
          <a:p>
            <a:pPr algn="just"/>
            <a:r>
              <a:rPr lang="en-US" sz="2400" dirty="0" smtClean="0"/>
              <a:t>To compare efficiency of different recursive algorithms.</a:t>
            </a:r>
          </a:p>
          <a:p>
            <a:pPr algn="just"/>
            <a:r>
              <a:rPr lang="en-US" sz="2400" dirty="0" smtClean="0"/>
              <a:t>To predict performance for large input sizes.</a:t>
            </a:r>
          </a:p>
          <a:p>
            <a:pPr algn="just"/>
            <a:r>
              <a:rPr lang="en-US" sz="2400" dirty="0" smtClean="0"/>
              <a:t>To provide a foundation for methods like substitution, recursion tree, and Master Theorem.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5E7D06-C279-2899-E303-8B8A30E7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4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Next Lecture</a:t>
            </a:r>
            <a:endParaRPr lang="en-IN" sz="3200" b="1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01AE641-6C1F-E0CA-DD2D-0732FAC79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Greedy Algorithm: Knapsack Fractional </a:t>
            </a:r>
            <a:r>
              <a:rPr lang="en-US" sz="2400" b="1" dirty="0" smtClean="0">
                <a:cs typeface="Times New Roman" panose="02020603050405020304" pitchFamily="18" charset="0"/>
              </a:rPr>
              <a:t>Problem……..</a:t>
            </a:r>
            <a:endParaRPr lang="en-IN" sz="24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4060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0D22136-7031-2280-5D95-5DE4723A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Practice Questions</a:t>
            </a:r>
            <a:endParaRPr lang="en-IN" sz="40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9040020" cy="2165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672705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614362" y="207962"/>
            <a:ext cx="7886700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References</a:t>
            </a:r>
            <a:endParaRPr sz="32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sp>
        <p:nvSpPr>
          <p:cNvPr id="220" name="Google Shape;220;p17"/>
          <p:cNvSpPr txBox="1">
            <a:spLocks noGrp="1"/>
          </p:cNvSpPr>
          <p:nvPr>
            <p:ph type="body" idx="1"/>
          </p:nvPr>
        </p:nvSpPr>
        <p:spPr>
          <a:xfrm>
            <a:off x="600075" y="1085850"/>
            <a:ext cx="7886700" cy="54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Text Books: 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Cormen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T. H.,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Leiserson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C. E.,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Rivest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R. L., &amp; Stein, C. (2022). Introduction to Algorithms (4th ed.). The MIT Press. </a:t>
            </a:r>
          </a:p>
          <a:p>
            <a:pPr lvl="0" algn="just"/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Horowitz, E.,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Sahni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S.,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Rajasekaran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S. (2008). Fundamentals of Computer Algorithms (2nd ed.). Universities Press (India). </a:t>
            </a:r>
          </a:p>
          <a:p>
            <a:pPr algn="just">
              <a:buNone/>
            </a:pPr>
            <a:endParaRPr lang="en-US" sz="1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Reference Books: 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Tenenbaum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A. M.,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Augenstein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M. J.,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Langsam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Y. (2009). Data Structures using C and C++ (2nd ed.). Prentice Hall of India. </a:t>
            </a:r>
          </a:p>
          <a:p>
            <a:pPr lvl="0" algn="just"/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Brassard, G.,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Bratley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P. (1996). Fundamentals of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Algorithmics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Prentice Hall of India. </a:t>
            </a:r>
          </a:p>
          <a:p>
            <a:pPr algn="just">
              <a:buNone/>
            </a:pPr>
            <a:endParaRPr lang="en-US" sz="1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Video Links: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3"/>
              </a:rPr>
              <a:t>https://youtu.be/UglQN5S9-lc?si=0g26HAB8i7TO1hFc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4"/>
              </a:rPr>
              <a:t>https://youtu.be/EolP-WNP-Zc?si=7OBaaU35ebbBzd4Y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5"/>
              </a:rPr>
              <a:t>https://youtu.be/9mjGoOBy8vs?si=aWk8KncPVCHIUD9m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6"/>
              </a:rPr>
              <a:t>https://youtu.be/GQNT0v5zKhE?si=0jfN658mPE41ZFU9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98;p16">
            <a:extLst>
              <a:ext uri="{FF2B5EF4-FFF2-40B4-BE49-F238E27FC236}">
                <a16:creationId xmlns=""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762000" y="304800"/>
            <a:ext cx="811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rgbClr val="C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=""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2374969"/>
            <a:ext cx="8001000" cy="370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r>
              <a:rPr lang="en-IN" sz="18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lnSpc>
                <a:spcPct val="150000"/>
              </a:lnSpc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lnSpc>
                <a:spcPct val="150000"/>
              </a:lnSpc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9055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7212" y="365125"/>
            <a:ext cx="7958137" cy="1325563"/>
          </a:xfrm>
        </p:spPr>
        <p:txBody>
          <a:bodyPr/>
          <a:lstStyle/>
          <a:p>
            <a:pPr lvl="0" algn="ctr"/>
            <a:r>
              <a:rPr lang="en-US" sz="40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Class-Wise </a:t>
            </a:r>
            <a:r>
              <a:rPr lang="en-IN" sz="40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Feedback</a:t>
            </a:r>
            <a:endParaRPr lang="en-US" sz="4000" b="1" dirty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685925" y="4429126"/>
            <a:ext cx="5414963" cy="61436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https://forms.gle/hDw6VtS7k2r4amVF7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19463" y="2390775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043112" y="5117068"/>
            <a:ext cx="47005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Kindly scan the QR code to fill out the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feedbackform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Your input is valuable for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enhancingteaching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quality and course delivery.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​</a:t>
            </a:r>
            <a:endParaRPr lang="en-US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7963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>
            <a:off x="0" y="1143000"/>
            <a:ext cx="9144000" cy="3228975"/>
          </a:xfrm>
          <a:prstGeom prst="rect">
            <a:avLst/>
          </a:prstGeom>
          <a:solidFill>
            <a:srgbClr val="38562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7010400" y="857250"/>
            <a:ext cx="1371600" cy="137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8" name="Google Shape;228;p18"/>
          <p:cNvCxnSpPr/>
          <p:nvPr/>
        </p:nvCxnSpPr>
        <p:spPr>
          <a:xfrm>
            <a:off x="7626350" y="857250"/>
            <a:ext cx="498475" cy="49847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9" name="Google Shape;229;p18"/>
          <p:cNvCxnSpPr/>
          <p:nvPr/>
        </p:nvCxnSpPr>
        <p:spPr>
          <a:xfrm>
            <a:off x="550863" y="5578475"/>
            <a:ext cx="417512" cy="419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8"/>
          <p:cNvCxnSpPr/>
          <p:nvPr/>
        </p:nvCxnSpPr>
        <p:spPr>
          <a:xfrm>
            <a:off x="293688" y="4703763"/>
            <a:ext cx="1295400" cy="1296987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18"/>
          <p:cNvSpPr txBox="1"/>
          <p:nvPr/>
        </p:nvSpPr>
        <p:spPr>
          <a:xfrm>
            <a:off x="1114425" y="2544763"/>
            <a:ext cx="8043863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981200" y="1768475"/>
            <a:ext cx="1822450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2173288" y="1768475"/>
            <a:ext cx="1824037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2171701" y="4560888"/>
            <a:ext cx="5172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  <a:t>For queries</a:t>
            </a:r>
            <a:endParaRPr sz="18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  <a:t>Email: kriti.e13537@cumail.in</a:t>
            </a:r>
            <a:endParaRPr sz="1800" b="1" i="0" u="none" strike="noStrike" cap="none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 2.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8167</TotalTime>
  <Words>928</Words>
  <Application>Microsoft Office PowerPoint</Application>
  <PresentationFormat>On-screen Show (4:3)</PresentationFormat>
  <Paragraphs>206</Paragraphs>
  <Slides>43</Slides>
  <Notes>28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Unit 2.1</vt:lpstr>
      <vt:lpstr>CorelDRAW</vt:lpstr>
      <vt:lpstr>Slide 1</vt:lpstr>
      <vt:lpstr> Course Objectives</vt:lpstr>
      <vt:lpstr>Course Outcomes</vt:lpstr>
      <vt:lpstr>Unit-1 Syllabus</vt:lpstr>
      <vt:lpstr>Topic to be Covered</vt:lpstr>
      <vt:lpstr>Recurrence Relations</vt:lpstr>
      <vt:lpstr>Slide 7</vt:lpstr>
      <vt:lpstr>Components of a Recurrence Relation</vt:lpstr>
      <vt:lpstr>Types of Recurrence Relations</vt:lpstr>
      <vt:lpstr>Examples Recurrence Relations</vt:lpstr>
      <vt:lpstr>Methods to solve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The Master Theorem 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Need of Recurrence Relations</vt:lpstr>
      <vt:lpstr>                      Next Lecture</vt:lpstr>
      <vt:lpstr>Practice Questions</vt:lpstr>
      <vt:lpstr>References</vt:lpstr>
      <vt:lpstr>Slide 41</vt:lpstr>
      <vt:lpstr>Class-Wise Feedback</vt:lpstr>
      <vt:lpstr>Slide 43</vt:lpstr>
    </vt:vector>
  </TitlesOfParts>
  <Company>University of Florida, Department of Statistics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 Introduction</dc:title>
  <dc:creator>Administrator</dc:creator>
  <cp:lastModifiedBy>LENOVO</cp:lastModifiedBy>
  <cp:revision>455</cp:revision>
  <dcterms:created xsi:type="dcterms:W3CDTF">2008-06-16T13:44:56Z</dcterms:created>
  <dcterms:modified xsi:type="dcterms:W3CDTF">2026-01-13T05:25:53Z</dcterms:modified>
</cp:coreProperties>
</file>