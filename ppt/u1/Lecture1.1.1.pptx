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7"/>
  </p:notesMasterIdLst>
  <p:sldIdLst>
    <p:sldId id="282" r:id="rId2"/>
    <p:sldId id="257" r:id="rId3"/>
    <p:sldId id="258" r:id="rId4"/>
    <p:sldId id="259" r:id="rId5"/>
    <p:sldId id="260" r:id="rId6"/>
    <p:sldId id="283" r:id="rId7"/>
    <p:sldId id="284" r:id="rId8"/>
    <p:sldId id="261" r:id="rId9"/>
    <p:sldId id="286" r:id="rId10"/>
    <p:sldId id="262" r:id="rId11"/>
    <p:sldId id="263" r:id="rId12"/>
    <p:sldId id="264" r:id="rId13"/>
    <p:sldId id="287" r:id="rId14"/>
    <p:sldId id="289" r:id="rId15"/>
    <p:sldId id="290" r:id="rId16"/>
    <p:sldId id="291" r:id="rId17"/>
    <p:sldId id="292" r:id="rId18"/>
    <p:sldId id="293" r:id="rId19"/>
    <p:sldId id="294" r:id="rId20"/>
    <p:sldId id="278" r:id="rId21"/>
    <p:sldId id="279" r:id="rId22"/>
    <p:sldId id="295" r:id="rId23"/>
    <p:sldId id="296" r:id="rId24"/>
    <p:sldId id="280" r:id="rId25"/>
    <p:sldId id="273" r:id="rId2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F5C85E6-E3A8-4B6A-807C-F316C112376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235" autoAdjust="0"/>
    <p:restoredTop sz="91455" autoAdjust="0"/>
  </p:normalViewPr>
  <p:slideViewPr>
    <p:cSldViewPr snapToGrid="0" showGuides="1">
      <p:cViewPr varScale="1">
        <p:scale>
          <a:sx n="65" d="100"/>
          <a:sy n="65" d="100"/>
        </p:scale>
        <p:origin x="-1428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8FE7DBFD-3CD4-72CB-B3B4-A8E2B4B18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xmlns="" id="{DC18742C-0AE0-A994-B2ED-A9BFF88C0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xmlns="" id="{E89BB3F3-8FD5-23EA-C014-0FA6CAB91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32394911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0044B758-C87D-505D-C3C8-A549E1C7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xmlns="" id="{E60E0FE7-490F-D759-32A7-C75DA6EDA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xmlns="" id="{DF9AA489-D2BD-8969-C629-E8BC8C6956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1792918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216C3BF0-F04D-CC55-01DE-58461362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xmlns="" id="{E1C26BBB-3EE0-C367-EB17-2F01B7585D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xmlns="" id="{AED12312-F8C0-DB82-75C0-FC2758C0D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3042370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BF1E0EE1-A63F-12F4-10BB-2B0C5E51B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xmlns="" id="{03949B4A-8DCA-5D8A-F91E-E3E3181692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xmlns="" id="{AD7E994A-6713-82F4-3A2F-AD2DA1A7B7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38012223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7D04F549-C923-1FA6-0572-8E4FDBDC5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xmlns="" id="{70D34990-FEC3-FB89-4B02-268714D73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xmlns="" id="{47BCAEBB-22C0-CF35-0C48-E613A3B456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11230461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xmlns="" id="{D65DF209-F70B-D346-7CAD-F327973A4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xmlns="" id="{AF278F86-62B3-04BA-72AF-285D9D5D6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xmlns="" id="{2A2B0163-0369-FCE8-AFFD-EDC379A61A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xmlns="" val="15698407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18BDF5E7-F95C-899B-EC14-E8E986C7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B75BA061-2CC0-FC5F-90C5-EB6DD8F82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FD8A0E1B-B8B2-DFD2-0A4F-7F72575EE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12329968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="" xmlns:a16="http://schemas.microsoft.com/office/drawing/2014/main" id="{86B53972-8CFD-533B-1C4D-268D3A8B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="" xmlns:a16="http://schemas.microsoft.com/office/drawing/2014/main" id="{286BAB7A-5EF3-5546-4BB0-C26EE502D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="" xmlns:a16="http://schemas.microsoft.com/office/drawing/2014/main" id="{24E556B0-B3F6-5788-1709-ADC00D5B8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="" xmlns:p14="http://schemas.microsoft.com/office/powerpoint/2010/main" val="40521369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3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6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7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7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9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0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1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31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31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31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1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2"/>
          <p:cNvSpPr/>
          <p:nvPr/>
        </p:nvSpPr>
        <p:spPr>
          <a:xfrm>
            <a:off x="-14288" y="1905000"/>
            <a:ext cx="9158288" cy="4953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0" name="Google Shape;90;p32"/>
          <p:cNvSpPr/>
          <p:nvPr/>
        </p:nvSpPr>
        <p:spPr>
          <a:xfrm>
            <a:off x="-14288" y="0"/>
            <a:ext cx="9158288" cy="4438650"/>
          </a:xfrm>
          <a:custGeom>
            <a:avLst/>
            <a:gdLst/>
            <a:ahLst/>
            <a:cxnLst/>
            <a:rect l="l" t="t" r="r" b="b"/>
            <a:pathLst>
              <a:path w="12211050" h="4438650" extrusionOk="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rgbClr val="1716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1" name="Google Shape;91;p32"/>
          <p:cNvSpPr/>
          <p:nvPr/>
        </p:nvSpPr>
        <p:spPr>
          <a:xfrm>
            <a:off x="814388" y="1009650"/>
            <a:ext cx="7515225" cy="5238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2" name="Google Shape;92;p32"/>
          <p:cNvSpPr>
            <a:spLocks noGrp="1"/>
          </p:cNvSpPr>
          <p:nvPr>
            <p:ph type="pic" idx="2"/>
          </p:nvPr>
        </p:nvSpPr>
        <p:spPr>
          <a:xfrm>
            <a:off x="1385888" y="2819400"/>
            <a:ext cx="6372225" cy="28003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600" marR="0" lvl="0" indent="-50800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defRPr>
            </a:lvl1pPr>
            <a:lvl2pPr marL="1219200" marR="0" lvl="1" indent="-474345" algn="l">
              <a:lnSpc>
                <a:spcPct val="115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828800" marR="0" lvl="2" indent="-474345" algn="l">
              <a:lnSpc>
                <a:spcPct val="115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2438400" marR="0" lvl="3" indent="-4572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3048000" marR="0" lvl="4" indent="-4572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3657600" marR="0" lvl="5" indent="-474345" algn="l">
              <a:lnSpc>
                <a:spcPct val="115000"/>
              </a:lnSpc>
              <a:spcBef>
                <a:spcPts val="53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4267200" marR="0" lvl="6" indent="-47434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4876800" marR="0" lvl="7" indent="-47434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5486400" marR="0" lvl="8" indent="-474345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665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7" y="29380"/>
            <a:ext cx="652311" cy="139860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6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Char char="•"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 panose="020B0604020202020204"/>
              <a:buChar char="•"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introduction-to-algorithms/" TargetMode="External"/><Relationship Id="rId7" Type="http://schemas.openxmlformats.org/officeDocument/2006/relationships/hyperlink" Target="https://youtu.be/9mjGoOBy8vs?si=aWk8KncPVCHIUD9m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youtu.be/EolP-WNP-Zc?si=7OBaaU35ebbBzd4Y" TargetMode="External"/><Relationship Id="rId5" Type="http://schemas.openxmlformats.org/officeDocument/2006/relationships/hyperlink" Target="https://youtu.be/UglQN5S9-lc?si=0g26HAB8i7TO1hFc" TargetMode="External"/><Relationship Id="rId4" Type="http://schemas.openxmlformats.org/officeDocument/2006/relationships/hyperlink" Target="https://www.tutorialspoint.com/design_and_analysis_of_algorithms/index.htm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3_cs96/preview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linkedin.com/learning/learning-algorithms" TargetMode="External"/><Relationship Id="rId5" Type="http://schemas.openxmlformats.org/officeDocument/2006/relationships/hyperlink" Target="https://nptel.ac.in/courses/106106208" TargetMode="External"/><Relationship Id="rId4" Type="http://schemas.openxmlformats.org/officeDocument/2006/relationships/hyperlink" Target="https://nptel.ac.in/courses/106106131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hDw6VtS7k2r4amVF7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4876800"/>
            <a:ext cx="5186364" cy="11382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44" name="Slide Number Placeholder 2"/>
          <p:cNvSpPr txBox="1"/>
          <p:nvPr/>
        </p:nvSpPr>
        <p:spPr>
          <a:xfrm>
            <a:off x="6572250" y="5737225"/>
            <a:ext cx="2055813" cy="274638"/>
          </a:xfrm>
          <a:prstGeom prst="rect">
            <a:avLst/>
          </a:prstGeom>
        </p:spPr>
        <p:txBody>
          <a:bodyPr lIns="68556" tIns="34279" rIns="68556" bIns="34279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6" name="Right Triangle 45"/>
          <p:cNvSpPr/>
          <p:nvPr/>
        </p:nvSpPr>
        <p:spPr>
          <a:xfrm flipV="1">
            <a:off x="7129463" y="5311775"/>
            <a:ext cx="968375" cy="868363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19462" name="Object 47"/>
          <p:cNvGraphicFramePr>
            <a:graphicFrameLocks noChangeAspect="1"/>
          </p:cNvGraphicFramePr>
          <p:nvPr/>
        </p:nvGraphicFramePr>
        <p:xfrm>
          <a:off x="342902" y="3571876"/>
          <a:ext cx="900112" cy="871922"/>
        </p:xfrm>
        <a:graphic>
          <a:graphicData uri="http://schemas.openxmlformats.org/presentationml/2006/ole">
            <p:oleObj spid="_x0000_s1025" name="CorelDRAW" r:id="rId3" imgW="2169000" imgH="2169360" progId="">
              <p:embed/>
            </p:oleObj>
          </a:graphicData>
        </a:graphic>
      </p:graphicFrame>
      <p:sp>
        <p:nvSpPr>
          <p:cNvPr id="37" name="Right Triangle 36"/>
          <p:cNvSpPr/>
          <p:nvPr/>
        </p:nvSpPr>
        <p:spPr>
          <a:xfrm flipH="1">
            <a:off x="5284787" y="1123950"/>
            <a:ext cx="3859213" cy="438785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594093" y="2376762"/>
            <a:ext cx="5120286" cy="118509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pic>
        <p:nvPicPr>
          <p:cNvPr id="19467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04800"/>
            <a:ext cx="6629400" cy="172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ight Triangle 42"/>
          <p:cNvSpPr/>
          <p:nvPr/>
        </p:nvSpPr>
        <p:spPr>
          <a:xfrm rot="10800000" flipV="1">
            <a:off x="7369174" y="5300663"/>
            <a:ext cx="1774825" cy="1557337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4676774" y="6350297"/>
            <a:ext cx="3695700" cy="507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0" y="5576888"/>
            <a:ext cx="5214938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indent="-152400">
              <a:lnSpc>
                <a:spcPct val="90000"/>
              </a:lnSpc>
              <a:buClr>
                <a:schemeClr val="dk1"/>
              </a:buClr>
              <a:buSzPts val="2400"/>
            </a:pPr>
            <a:r>
              <a:rPr lang="en-US" sz="1800" b="1" dirty="0" smtClean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Topic-</a:t>
            </a:r>
            <a:r>
              <a:rPr lang="en-US" sz="1800" b="1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</a:t>
            </a:r>
            <a:r>
              <a:rPr lang="en-US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Algorithms, Ordered Notations</a:t>
            </a:r>
          </a:p>
          <a:p>
            <a:pPr lvl="0" indent="-152400" algn="ctr">
              <a:lnSpc>
                <a:spcPct val="90000"/>
              </a:lnSpc>
              <a:buClr>
                <a:schemeClr val="dk1"/>
              </a:buClr>
              <a:buSzPts val="2400"/>
            </a:pPr>
            <a:endParaRPr lang="en-US" sz="16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defTabSz="466725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endParaRPr lang="en-US" sz="1600" b="1" dirty="0">
              <a:solidFill>
                <a:prstClr val="black">
                  <a:lumMod val="85000"/>
                  <a:lumOff val="15000"/>
                </a:prst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407988" y="2100263"/>
            <a:ext cx="8324850" cy="3250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IN" altLang="en-US" sz="35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APEX INSTITUTE OF TECHNOLOGY</a:t>
            </a:r>
            <a:endParaRPr lang="en-US" altLang="en-US" sz="35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eaLnBrk="1" hangingPunct="1"/>
            <a:r>
              <a:rPr lang="en-IN" altLang="en-US" sz="21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COMPUTER SCIENCE &amp; ENGINEERING</a:t>
            </a:r>
            <a:endParaRPr lang="en-US" altLang="en-US" sz="21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eaLnBrk="1" hangingPunct="1">
              <a:lnSpc>
                <a:spcPct val="90000"/>
              </a:lnSpc>
              <a:spcAft>
                <a:spcPct val="35000"/>
              </a:spcAft>
            </a:pPr>
            <a:endParaRPr lang="en-US" altLang="en-US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and Analysis of Algorithm</a:t>
            </a:r>
          </a:p>
          <a:p>
            <a:pPr algn="ctr">
              <a:spcBef>
                <a:spcPts val="840"/>
              </a:spcBef>
            </a:pPr>
            <a:r>
              <a:rPr lang="en-IN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24CSH-282</a:t>
            </a:r>
          </a:p>
          <a:p>
            <a:pPr lvl="0" algn="ctr">
              <a:spcBef>
                <a:spcPts val="840"/>
              </a:spcBef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Master Subject Coordinator- </a:t>
            </a:r>
            <a:r>
              <a:rPr lang="en-US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Er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. </a:t>
            </a:r>
            <a:r>
              <a:rPr lang="en-US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Kriti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Taneja (E13537</a:t>
            </a:r>
            <a:r>
              <a:rPr lang="en-US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)</a:t>
            </a:r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24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eaLnBrk="1" hangingPunct="1">
              <a:lnSpc>
                <a:spcPct val="90000"/>
              </a:lnSpc>
              <a:spcAft>
                <a:spcPct val="35000"/>
              </a:spcAft>
            </a:pPr>
            <a:endParaRPr lang="en-US" altLang="en-US" sz="11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title"/>
          </p:nvPr>
        </p:nvSpPr>
        <p:spPr>
          <a:xfrm>
            <a:off x="762000" y="230188"/>
            <a:ext cx="7883525" cy="1014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Course Objectives</a:t>
            </a:r>
            <a:endParaRPr sz="4000" b="1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 panose="02020603050405020304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481012" y="1248813"/>
            <a:ext cx="8304213" cy="5609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The 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Course aims to:</a:t>
            </a:r>
            <a:endParaRPr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-152400" algn="just" rtl="0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The Student will acquire knowledge on Proving Algorithm </a:t>
            </a:r>
            <a:r>
              <a:rPr lang="en-US" sz="2400" b="0" i="0" u="none" strike="noStrike" cap="none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Correctness.</a:t>
            </a:r>
            <a:endParaRPr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-152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To analyze and design different algorithms based on different designing approaches.</a:t>
            </a:r>
            <a:endParaRPr sz="24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 panose="02020603050405020304"/>
            </a:endParaRPr>
          </a:p>
          <a:p>
            <a:pPr marL="0" marR="0" lvl="0" indent="-152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To choose appropriate algorithm design techniques for solving real-time problems.</a:t>
            </a:r>
            <a:endParaRPr sz="24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 panose="02020603050405020304"/>
            </a:endParaRPr>
          </a:p>
          <a:p>
            <a:pPr marL="0" marR="0" lvl="0" indent="-152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To apply and synthesize efficient algorithms.</a:t>
            </a:r>
            <a:endParaRPr sz="24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 panose="02020603050405020304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.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 panose="02020603050405020304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>
            <a:spLocks noGrp="1"/>
          </p:cNvSpPr>
          <p:nvPr>
            <p:ph type="title"/>
          </p:nvPr>
        </p:nvSpPr>
        <p:spPr>
          <a:xfrm>
            <a:off x="1066800" y="479425"/>
            <a:ext cx="71628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 smtClean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Course Outcomes</a:t>
            </a:r>
            <a:endParaRPr sz="400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838199" y="1295400"/>
            <a:ext cx="730567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On completion of this course, the students shall be able to:-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 panose="02020603050405020304"/>
            </a:endParaRPr>
          </a:p>
        </p:txBody>
      </p:sp>
      <p:graphicFrame>
        <p:nvGraphicFramePr>
          <p:cNvPr id="125" name="Google Shape;125;p3"/>
          <p:cNvGraphicFramePr/>
          <p:nvPr/>
        </p:nvGraphicFramePr>
        <p:xfrm>
          <a:off x="514350" y="1801813"/>
          <a:ext cx="8000988" cy="4344883"/>
        </p:xfrm>
        <a:graphic>
          <a:graphicData uri="http://schemas.openxmlformats.org/drawingml/2006/table">
            <a:tbl>
              <a:tblPr bandRow="1">
                <a:tableStyleId>{4F5C85E6-E3A8-4B6A-807C-F316C1123767}</a:tableStyleId>
              </a:tblPr>
              <a:tblGrid>
                <a:gridCol w="722138"/>
                <a:gridCol w="7278850"/>
              </a:tblGrid>
              <a:tr h="855175">
                <a:tc>
                  <a:txBody>
                    <a:bodyPr/>
                    <a:lstStyle/>
                    <a:p>
                      <a:pPr marL="0" marR="0" indent="5461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CO1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Understand the fundamental concepts of algorithm analysis, ordered notations, recurrence relations, greedy methods, and backtracking techniques. </a:t>
                      </a:r>
                    </a:p>
                  </a:txBody>
                  <a:tcPr marL="68580" marR="68580" marT="0" marB="0"/>
                </a:tc>
              </a:tr>
              <a:tr h="855175">
                <a:tc>
                  <a:txBody>
                    <a:bodyPr/>
                    <a:lstStyle/>
                    <a:p>
                      <a:pPr marL="0" marR="0" indent="5461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CO2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Apply various sorting algorithms, searching algorithms, graph algorithms and algorithmic techniques to solve computational problems effectively. </a:t>
                      </a:r>
                    </a:p>
                  </a:txBody>
                  <a:tcPr marL="68580" marR="68580" marT="0" marB="0"/>
                </a:tc>
              </a:tr>
              <a:tr h="855175">
                <a:tc>
                  <a:txBody>
                    <a:bodyPr/>
                    <a:lstStyle/>
                    <a:p>
                      <a:pPr marL="0" marR="0" indent="5461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CO3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Analyze the performance and efficiency of different algorithms in various scenarios, various classes for complex problems like P, NP and NP Complete, NP Hard. </a:t>
                      </a:r>
                    </a:p>
                  </a:txBody>
                  <a:tcPr marL="68580" marR="68580" marT="0" marB="0"/>
                </a:tc>
              </a:tr>
              <a:tr h="798450">
                <a:tc>
                  <a:txBody>
                    <a:bodyPr/>
                    <a:lstStyle/>
                    <a:p>
                      <a:pPr marL="0" marR="0" indent="5461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CO4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Evaluate and compare algorithmic strategies including dynamic programming, divide-and-conquer, greedy methods and Branch &amp; Bound. </a:t>
                      </a:r>
                    </a:p>
                  </a:txBody>
                  <a:tcPr marL="68580" marR="68580" marT="0" marB="0"/>
                </a:tc>
              </a:tr>
              <a:tr h="798450">
                <a:tc>
                  <a:txBody>
                    <a:bodyPr/>
                    <a:lstStyle/>
                    <a:p>
                      <a:pPr marL="0" marR="0" indent="5461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CO5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and implement optimized solutions for complex problems using advanced algorithmic techniques. 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557213" y="271463"/>
            <a:ext cx="7883525" cy="61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Unit-1 Syllabus</a:t>
            </a:r>
            <a:endParaRPr sz="400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32" name="Google Shape;132;p4"/>
          <p:cNvGraphicFramePr/>
          <p:nvPr/>
        </p:nvGraphicFramePr>
        <p:xfrm>
          <a:off x="323850" y="1643062"/>
          <a:ext cx="8230215" cy="4949466"/>
        </p:xfrm>
        <a:graphic>
          <a:graphicData uri="http://schemas.openxmlformats.org/drawingml/2006/table">
            <a:tbl>
              <a:tblPr>
                <a:noFill/>
                <a:tableStyleId>{4F5C85E6-E3A8-4B6A-807C-F316C1123767}</a:tableStyleId>
              </a:tblPr>
              <a:tblGrid>
                <a:gridCol w="2619580"/>
                <a:gridCol w="4357814"/>
                <a:gridCol w="1252821"/>
              </a:tblGrid>
              <a:tr h="742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Times New Roman" panose="02020603050405020304"/>
                        </a:rPr>
                        <a:t>UNIT-1</a:t>
                      </a:r>
                      <a:endParaRPr sz="1600" b="1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Times New Roman" panose="02020603050405020304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Times New Roman" panose="02020603050405020304"/>
                        </a:rPr>
                        <a:t>Introduction, Algorithm Design Techniques, Back Tracking</a:t>
                      </a:r>
                      <a:endParaRPr sz="1600" b="1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Times New Roman" panose="02020603050405020304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Times New Roman" panose="02020603050405020304"/>
                        </a:rPr>
                        <a:t>Contact Hours:15</a:t>
                      </a:r>
                      <a:endParaRPr sz="1600" b="1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Times New Roman" panose="02020603050405020304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998286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Times New Roman" panose="02020603050405020304"/>
                        </a:rPr>
                        <a:t>Introduction</a:t>
                      </a:r>
                      <a:endParaRPr sz="16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Times New Roman" panose="02020603050405020304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sng" strike="noStrike" cap="none" dirty="0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Times New Roman" panose="02020603050405020304"/>
                        </a:rPr>
                        <a:t>Ordered Notations</a:t>
                      </a:r>
                      <a:r>
                        <a:rPr lang="en-US" sz="1600" b="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Times New Roman" panose="02020603050405020304"/>
                        </a:rPr>
                        <a:t>, Inductions</a:t>
                      </a:r>
                      <a:r>
                        <a:rPr lang="en-US" sz="16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Times New Roman" panose="02020603050405020304"/>
                        </a:rPr>
                        <a:t>, Pigeon hole principles, Recurrence </a:t>
                      </a:r>
                      <a:r>
                        <a:rPr lang="en-US" sz="1600" u="none" strike="noStrike" cap="none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Times New Roman" panose="02020603050405020304"/>
                        </a:rPr>
                        <a:t>Relations</a:t>
                      </a:r>
                      <a:endParaRPr sz="16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Times New Roman" panose="02020603050405020304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Times New Roman" panose="02020603050405020304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42613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Times New Roman" panose="02020603050405020304"/>
                        </a:rPr>
                        <a:t>Algorithm Design Techniques</a:t>
                      </a:r>
                      <a:endParaRPr sz="16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Times New Roman" panose="02020603050405020304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Times New Roman" panose="02020603050405020304"/>
                        </a:rPr>
                        <a:t>Greedy Algorithms for Knapsack Fractional Problem, Job Sequencing Problem with the deadline, Huffman Coding, Amortization, Optimal Algorithms.</a:t>
                      </a:r>
                      <a:endParaRPr sz="16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Times New Roman" panose="02020603050405020304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Times New Roman" panose="02020603050405020304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82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Times New Roman" panose="02020603050405020304"/>
                        </a:rPr>
                        <a:t>Back Tracking</a:t>
                      </a:r>
                      <a:endParaRPr sz="16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Times New Roman" panose="02020603050405020304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strike="noStrike" cap="none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Times New Roman" panose="02020603050405020304"/>
                        </a:rPr>
                        <a:t>Understanding of Back Tracking, Recursive Back Tracking, Iterative Back Tracking, N-Queen’s Problem, Hamiltonian Cycle, Knight’s Tour Problem, Lower –Bound Theory.</a:t>
                      </a:r>
                      <a:endParaRPr sz="16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Times New Roman" panose="02020603050405020304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Times New Roman" panose="02020603050405020304"/>
                      </a:endParaRPr>
                    </a:p>
                  </a:txBody>
                  <a:tcPr marL="73025" marR="7302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 smtClean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Topics to be covered</a:t>
            </a:r>
            <a:endParaRPr lang="en-US" sz="4000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8" name="Google Shape;138;p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-1524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to Algorithms</a:t>
            </a:r>
          </a:p>
          <a:p>
            <a:pPr marL="0" lvl="0" indent="-152400" algn="just">
              <a:lnSpc>
                <a:spcPct val="200000"/>
              </a:lnSpc>
              <a:spcBef>
                <a:spcPts val="0"/>
              </a:spcBef>
              <a:buSzPts val="2400"/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Ordered Notations</a:t>
            </a:r>
          </a:p>
          <a:p>
            <a:pPr marL="0" lvl="0" indent="-152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400" b="1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"/>
          <p:cNvSpPr txBox="1">
            <a:spLocks noGrp="1"/>
          </p:cNvSpPr>
          <p:nvPr>
            <p:ph type="title"/>
          </p:nvPr>
        </p:nvSpPr>
        <p:spPr>
          <a:xfrm>
            <a:off x="557213" y="338138"/>
            <a:ext cx="8215312" cy="97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mbria" panose="02040503050406030204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 panose="02040503050406030204"/>
              </a:rPr>
              <a:t>Design</a:t>
            </a:r>
            <a:r>
              <a:rPr lang="en-US" sz="4000" b="1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 panose="02040503050406030204"/>
              </a:rPr>
              <a:t> </a:t>
            </a:r>
            <a:r>
              <a:rPr lang="en-US" sz="4000" b="1" i="0" u="none" strike="noStrike" cap="non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 panose="02040503050406030204"/>
              </a:rPr>
              <a:t>and Analysis of Algorithm</a:t>
            </a:r>
            <a:endParaRPr sz="3600" b="1" i="0" u="none" strike="noStrike" cap="none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 panose="02040503050406030204"/>
            </a:endParaRPr>
          </a:p>
        </p:txBody>
      </p:sp>
      <p:sp>
        <p:nvSpPr>
          <p:cNvPr id="320" name="Google Shape;320;p3"/>
          <p:cNvSpPr txBox="1">
            <a:spLocks noGrp="1"/>
          </p:cNvSpPr>
          <p:nvPr>
            <p:ph type="body" idx="1"/>
          </p:nvPr>
        </p:nvSpPr>
        <p:spPr>
          <a:xfrm>
            <a:off x="914400" y="1700212"/>
            <a:ext cx="7386638" cy="4471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6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 panose="020B0604020202020204"/>
              <a:buNone/>
            </a:pPr>
            <a:endParaRPr sz="2300" b="0" i="0" u="none">
              <a:solidFill>
                <a:schemeClr val="dk1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  <a:p>
            <a:pPr marL="342900" lvl="0" indent="-342900" algn="just" rtl="0">
              <a:lnSpc>
                <a:spcPct val="2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</a:pPr>
            <a:r>
              <a:rPr lang="en-US" sz="2400" b="0" i="0" u="none" dirty="0" smtClean="0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     Design </a:t>
            </a:r>
            <a:r>
              <a:rPr lang="en-US" sz="2400" b="0" i="0" u="none" dirty="0">
                <a:solidFill>
                  <a:schemeClr val="dk1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and Analysis of Algorithm is very important for designing algorithm to solve different types of problems in the branch of computer science and information technology.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"/>
          <p:cNvSpPr txBox="1">
            <a:spLocks noGrp="1"/>
          </p:cNvSpPr>
          <p:nvPr>
            <p:ph type="title"/>
          </p:nvPr>
        </p:nvSpPr>
        <p:spPr>
          <a:xfrm>
            <a:off x="528638" y="261937"/>
            <a:ext cx="7972424" cy="966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mbria" panose="02040503050406030204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Cambria" panose="02040503050406030204"/>
                <a:ea typeface="Cambria" panose="02040503050406030204"/>
                <a:cs typeface="Cambria" panose="02040503050406030204"/>
                <a:sym typeface="Cambria" panose="02040503050406030204"/>
              </a:rPr>
              <a:t>Basic Concept</a:t>
            </a:r>
            <a:endParaRPr sz="4000" b="1" i="0" u="none" strike="noStrike" cap="none">
              <a:solidFill>
                <a:srgbClr val="C00000"/>
              </a:solidFill>
              <a:latin typeface="Cambria" panose="02040503050406030204"/>
              <a:ea typeface="Cambria" panose="02040503050406030204"/>
              <a:cs typeface="Cambria" panose="02040503050406030204"/>
              <a:sym typeface="Cambria" panose="02040503050406030204"/>
            </a:endParaRPr>
          </a:p>
        </p:txBody>
      </p:sp>
      <p:pic>
        <p:nvPicPr>
          <p:cNvPr id="326" name="Google Shape;326;p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057400" y="1447800"/>
            <a:ext cx="5322887" cy="4846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34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Introduction to Algorithm</a:t>
            </a:r>
            <a:endParaRPr sz="400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373205"/>
            <a:ext cx="9144000" cy="5301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71450" lvl="0" indent="-171450" algn="ctr">
              <a:spcBef>
                <a:spcPts val="750"/>
              </a:spcBef>
            </a:pPr>
            <a:r>
              <a:rPr lang="en-US" sz="4000" b="1" dirty="0" smtClean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Characteristics of a Good Algorithm</a:t>
            </a:r>
            <a:endParaRPr lang="en-US" sz="40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 panose="020206030504050203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608414"/>
            <a:ext cx="9144000" cy="5213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>
            <a:spLocks noGrp="1"/>
          </p:cNvSpPr>
          <p:nvPr>
            <p:ph type="title"/>
          </p:nvPr>
        </p:nvSpPr>
        <p:spPr>
          <a:xfrm>
            <a:off x="581026" y="185738"/>
            <a:ext cx="8001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Importance of Studying Algorithms</a:t>
            </a:r>
            <a:endParaRPr sz="4000" b="1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 panose="02020603050405020304"/>
            </a:endParaRPr>
          </a:p>
        </p:txBody>
      </p:sp>
      <p:sp>
        <p:nvSpPr>
          <p:cNvPr id="151" name="Google Shape;151;p7"/>
          <p:cNvSpPr txBox="1">
            <a:spLocks noGrp="1"/>
          </p:cNvSpPr>
          <p:nvPr>
            <p:ph type="body" idx="1"/>
          </p:nvPr>
        </p:nvSpPr>
        <p:spPr>
          <a:xfrm>
            <a:off x="457200" y="1905000"/>
            <a:ext cx="84582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endParaRPr sz="28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4" y="1152946"/>
            <a:ext cx="7972424" cy="5644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Analysis of Algorithms</a:t>
            </a:r>
            <a:endParaRPr sz="4000" b="1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 panose="02020603050405020304"/>
            </a:endParaRPr>
          </a:p>
        </p:txBody>
      </p:sp>
      <p:sp>
        <p:nvSpPr>
          <p:cNvPr id="157" name="Google Shape;157;p8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058150" cy="4805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 dirty="0"/>
              <a:t>  </a:t>
            </a:r>
            <a:endParaRPr b="1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038" y="1785937"/>
            <a:ext cx="8495176" cy="4673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>
            <a:spLocks noGrp="1"/>
          </p:cNvSpPr>
          <p:nvPr>
            <p:ph type="title"/>
          </p:nvPr>
        </p:nvSpPr>
        <p:spPr>
          <a:xfrm>
            <a:off x="609600" y="365125"/>
            <a:ext cx="790575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Ordered Notations</a:t>
            </a:r>
            <a:endParaRPr sz="4000" b="1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 panose="02020603050405020304"/>
            </a:endParaRPr>
          </a:p>
        </p:txBody>
      </p:sp>
      <p:sp>
        <p:nvSpPr>
          <p:cNvPr id="164" name="Google Shape;164;p9"/>
          <p:cNvSpPr txBox="1">
            <a:spLocks noGrp="1"/>
          </p:cNvSpPr>
          <p:nvPr>
            <p:ph type="body" idx="1"/>
          </p:nvPr>
        </p:nvSpPr>
        <p:spPr>
          <a:xfrm>
            <a:off x="561975" y="1457325"/>
            <a:ext cx="7981950" cy="503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2400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In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Design and Analysis of Algorithms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,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ordered </a:t>
            </a:r>
            <a:r>
              <a:rPr lang="en-US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notations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are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mathematical tools used to describe the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running time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or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space requirement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 of an algorithm as the input size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n → ∞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.</a:t>
            </a:r>
            <a:endParaRPr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 panose="02020603050405020304"/>
              </a:rPr>
              <a:t>Types of Ordered Notations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260" y="1998980"/>
            <a:ext cx="6507480" cy="36595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xmlns="" id="{DD698E66-F84E-170D-A0A4-F7906E6D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xmlns="" id="{98F4F0A3-AC9F-881C-38CF-FCABC87F7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350;p8">
            <a:extLst>
              <a:ext uri="{FF2B5EF4-FFF2-40B4-BE49-F238E27FC236}">
                <a16:creationId xmlns:a16="http://schemas.microsoft.com/office/drawing/2014/main" xmlns="" id="{E968C95A-E4DC-052B-1B7E-3FF2C6B0D803}"/>
              </a:ext>
            </a:extLst>
          </p:cNvPr>
          <p:cNvSpPr txBox="1">
            <a:spLocks/>
          </p:cNvSpPr>
          <p:nvPr/>
        </p:nvSpPr>
        <p:spPr>
          <a:xfrm>
            <a:off x="968776" y="189151"/>
            <a:ext cx="7924800" cy="525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400"/>
              <a:buFont typeface="Cambria"/>
              <a:buNone/>
            </a:pPr>
            <a:endParaRPr lang="en-US" sz="40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3" name="Google Shape;351;p8">
            <a:extLst>
              <a:ext uri="{FF2B5EF4-FFF2-40B4-BE49-F238E27FC236}">
                <a16:creationId xmlns:a16="http://schemas.microsoft.com/office/drawing/2014/main" xmlns="" id="{15429A14-E9A0-9728-63C2-270308ABD24D}"/>
              </a:ext>
            </a:extLst>
          </p:cNvPr>
          <p:cNvSpPr txBox="1">
            <a:spLocks/>
          </p:cNvSpPr>
          <p:nvPr/>
        </p:nvSpPr>
        <p:spPr>
          <a:xfrm>
            <a:off x="743986" y="1292099"/>
            <a:ext cx="8001000" cy="469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42900" indent="-196850">
              <a:spcBef>
                <a:spcPts val="460"/>
              </a:spcBef>
              <a:buSzPts val="2300"/>
              <a:buFont typeface="Arial"/>
              <a:buNone/>
            </a:pPr>
            <a:endParaRPr lang="en-US" sz="2300" dirty="0">
              <a:solidFill>
                <a:schemeClr val="bg2"/>
              </a:solidFill>
            </a:endParaRPr>
          </a:p>
        </p:txBody>
      </p:sp>
      <p:sp>
        <p:nvSpPr>
          <p:cNvPr id="4" name="Google Shape;144;p23">
            <a:extLst>
              <a:ext uri="{FF2B5EF4-FFF2-40B4-BE49-F238E27FC236}">
                <a16:creationId xmlns:a16="http://schemas.microsoft.com/office/drawing/2014/main" xmlns="" id="{18C52171-4FA9-F87B-681D-82BABD638921}"/>
              </a:ext>
            </a:extLst>
          </p:cNvPr>
          <p:cNvSpPr txBox="1">
            <a:spLocks/>
          </p:cNvSpPr>
          <p:nvPr/>
        </p:nvSpPr>
        <p:spPr>
          <a:xfrm>
            <a:off x="757238" y="214313"/>
            <a:ext cx="7911548" cy="124301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Big-oh notation (O) </a:t>
            </a:r>
            <a:endParaRPr kumimoji="0" lang="en-US" sz="40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(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Asymptotic Upper Bound)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  <a:sym typeface="Cambria"/>
            </a:endParaRPr>
          </a:p>
        </p:txBody>
      </p:sp>
      <p:sp>
        <p:nvSpPr>
          <p:cNvPr id="5" name="Google Shape;145;p23">
            <a:extLst>
              <a:ext uri="{FF2B5EF4-FFF2-40B4-BE49-F238E27FC236}">
                <a16:creationId xmlns:a16="http://schemas.microsoft.com/office/drawing/2014/main" xmlns="" id="{F8DF7464-94E5-4D56-4BDA-2ADCAABDE2C5}"/>
              </a:ext>
            </a:extLst>
          </p:cNvPr>
          <p:cNvSpPr txBox="1">
            <a:spLocks/>
          </p:cNvSpPr>
          <p:nvPr/>
        </p:nvSpPr>
        <p:spPr bwMode="auto">
          <a:xfrm>
            <a:off x="624924" y="2137899"/>
            <a:ext cx="8001000" cy="4499868"/>
          </a:xfrm>
          <a:prstGeom prst="rect">
            <a:avLst/>
          </a:prstGeom>
          <a:noFill/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	‘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O’ (Big Oh) is the most commonly used notation. A function 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f(n)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 can be represented is the order of 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g(n)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 that is 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O(g(n))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, if there exists a value of positive integer 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 as 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n</a:t>
            </a:r>
            <a:r>
              <a:rPr kumimoji="0" lang="en-US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0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 and a positive constant 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c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 </a:t>
            </a:r>
          </a:p>
          <a:p>
            <a:pPr lvl="0" algn="just">
              <a:lnSpc>
                <a:spcPct val="150000"/>
              </a:lnSpc>
              <a:buClrTx/>
              <a:buNone/>
              <a:defRPr/>
            </a:pPr>
            <a:r>
              <a:rPr lang="en-US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	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Hence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, function 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g(n)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 is an upper bound for function 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f(n)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, as 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g(n)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 grows  </a:t>
            </a:r>
            <a:r>
              <a:rPr kumimoji="0" lang="en-US" b="1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f</a:t>
            </a:r>
            <a:r>
              <a:rPr lang="en-US" dirty="0" smtClean="0">
                <a:solidFill>
                  <a:sysClr val="windowText" lastClr="0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faster than </a:t>
            </a:r>
            <a:r>
              <a:rPr kumimoji="0" lang="en-US" b="1" i="1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(n)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65719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xmlns="" id="{8B30559D-113C-CA36-943F-FB8143600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xmlns="" id="{9DE20160-C47E-3755-260A-77F95E8762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350;p8">
            <a:extLst>
              <a:ext uri="{FF2B5EF4-FFF2-40B4-BE49-F238E27FC236}">
                <a16:creationId xmlns:a16="http://schemas.microsoft.com/office/drawing/2014/main" xmlns="" id="{B846DD7C-EFA9-1E0D-BE4D-AAC22C6A37AD}"/>
              </a:ext>
            </a:extLst>
          </p:cNvPr>
          <p:cNvSpPr txBox="1">
            <a:spLocks/>
          </p:cNvSpPr>
          <p:nvPr/>
        </p:nvSpPr>
        <p:spPr>
          <a:xfrm>
            <a:off x="700088" y="54073"/>
            <a:ext cx="7686411" cy="1017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400"/>
              <a:buFont typeface="Cambria"/>
              <a:buNone/>
            </a:pPr>
            <a:endParaRPr lang="en-US" sz="40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8" name="Google Shape;144;p23">
            <a:extLst>
              <a:ext uri="{FF2B5EF4-FFF2-40B4-BE49-F238E27FC236}">
                <a16:creationId xmlns:a16="http://schemas.microsoft.com/office/drawing/2014/main" xmlns="" id="{5AF05DA7-AADE-3FC0-019F-E0B4212C65BC}"/>
              </a:ext>
            </a:extLst>
          </p:cNvPr>
          <p:cNvSpPr txBox="1">
            <a:spLocks/>
          </p:cNvSpPr>
          <p:nvPr/>
        </p:nvSpPr>
        <p:spPr>
          <a:xfrm>
            <a:off x="642938" y="-1"/>
            <a:ext cx="7980873" cy="1228725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Omega Notation(Ω</a:t>
            </a:r>
            <a: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(Asymptotic Lower Bound)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  <a:sym typeface="Cambria"/>
            </a:endParaRPr>
          </a:p>
        </p:txBody>
      </p:sp>
      <p:sp>
        <p:nvSpPr>
          <p:cNvPr id="9" name="Google Shape;145;p23">
            <a:extLst>
              <a:ext uri="{FF2B5EF4-FFF2-40B4-BE49-F238E27FC236}">
                <a16:creationId xmlns:a16="http://schemas.microsoft.com/office/drawing/2014/main" xmlns="" id="{3F556AE9-DBFA-FB5B-03CA-DB725B8AF7BF}"/>
              </a:ext>
            </a:extLst>
          </p:cNvPr>
          <p:cNvSpPr txBox="1">
            <a:spLocks/>
          </p:cNvSpPr>
          <p:nvPr/>
        </p:nvSpPr>
        <p:spPr bwMode="auto">
          <a:xfrm>
            <a:off x="642936" y="1559732"/>
            <a:ext cx="7952299" cy="5298268"/>
          </a:xfrm>
          <a:prstGeom prst="rect">
            <a:avLst/>
          </a:prstGeom>
          <a:noFill/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	We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say that 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f(n)=Ω(g(n))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 when there exists constant 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c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 that 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f(n)⩾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c.g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(n)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 for all sufficiently large value of 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. Here 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 is a positive integer. It means function 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 is a lower bound for function 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f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; after a certain value of 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n, f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 will never go below 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xmlns="" id="{D0E567D9-895C-E4E1-1113-F2DF95DF6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68776" y="3072779"/>
            <a:ext cx="7796212" cy="3284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499376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xmlns="" id="{D2D565F7-7B58-5C3B-FCDC-E6C0CFEF1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xmlns="" id="{5F31FAFF-7FEE-BA83-A704-9D5C6DCDD8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144;p23">
            <a:extLst>
              <a:ext uri="{FF2B5EF4-FFF2-40B4-BE49-F238E27FC236}">
                <a16:creationId xmlns:a16="http://schemas.microsoft.com/office/drawing/2014/main" xmlns="" id="{DB3C5A43-A37B-232E-59FC-45101EBB2551}"/>
              </a:ext>
            </a:extLst>
          </p:cNvPr>
          <p:cNvSpPr txBox="1">
            <a:spLocks/>
          </p:cNvSpPr>
          <p:nvPr/>
        </p:nvSpPr>
        <p:spPr>
          <a:xfrm>
            <a:off x="657225" y="0"/>
            <a:ext cx="8101275" cy="1075567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Theta (θ) </a:t>
            </a:r>
            <a:endParaRPr kumimoji="0" lang="en-US" sz="4000" b="1" i="0" u="none" strike="noStrike" kern="1200" cap="none" spc="0" normalizeH="0" baseline="0" noProof="0" dirty="0" smtClean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(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Asymptotic Tight Bound)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" name="Google Shape;145;p23">
            <a:extLst>
              <a:ext uri="{FF2B5EF4-FFF2-40B4-BE49-F238E27FC236}">
                <a16:creationId xmlns:a16="http://schemas.microsoft.com/office/drawing/2014/main" xmlns="" id="{22669C96-8DB9-5C96-899D-A08D0DC20033}"/>
              </a:ext>
            </a:extLst>
          </p:cNvPr>
          <p:cNvSpPr txBox="1">
            <a:spLocks/>
          </p:cNvSpPr>
          <p:nvPr/>
        </p:nvSpPr>
        <p:spPr bwMode="auto">
          <a:xfrm>
            <a:off x="693174" y="1385282"/>
            <a:ext cx="7962086" cy="5295737"/>
          </a:xfrm>
          <a:prstGeom prst="rect">
            <a:avLst/>
          </a:prstGeom>
          <a:noFill/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We say that 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f(n)=θ(g(n))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 when there exist constants 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c</a:t>
            </a:r>
            <a:r>
              <a:rPr kumimoji="0" lang="en-US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1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 and 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c</a:t>
            </a:r>
            <a:r>
              <a:rPr kumimoji="0" lang="en-US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2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 that 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c1.g(n)⩽f(n)⩽c2.g(n)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for all sufficiently large value of 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. Here 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 is a positive integer.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This means function 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 is a tight bound for function 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f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xmlns="" id="{E524AA0B-C8FD-5322-B0C7-C101F1D96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3701" y="3171902"/>
            <a:ext cx="8131175" cy="3254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53712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xmlns="" id="{DEEC0536-BF5D-71F0-87EA-F1E1B4105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xmlns="" id="{DFCDD88A-2ADF-8A48-80BA-D52FEC540C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144;p23">
            <a:extLst>
              <a:ext uri="{FF2B5EF4-FFF2-40B4-BE49-F238E27FC236}">
                <a16:creationId xmlns:a16="http://schemas.microsoft.com/office/drawing/2014/main" xmlns="" id="{533813E6-E08C-8B46-8E20-CF81BAA1F87F}"/>
              </a:ext>
            </a:extLst>
          </p:cNvPr>
          <p:cNvSpPr txBox="1">
            <a:spLocks/>
          </p:cNvSpPr>
          <p:nvPr/>
        </p:nvSpPr>
        <p:spPr>
          <a:xfrm>
            <a:off x="811161" y="1"/>
            <a:ext cx="7947339" cy="998982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Little </a:t>
            </a:r>
            <a:r>
              <a:rPr kumimoji="0" lang="el-GR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ο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asymptotic notation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  <a:sym typeface="Cambria"/>
            </a:endParaRPr>
          </a:p>
        </p:txBody>
      </p:sp>
      <p:sp>
        <p:nvSpPr>
          <p:cNvPr id="5" name="Google Shape;145;p23">
            <a:extLst>
              <a:ext uri="{FF2B5EF4-FFF2-40B4-BE49-F238E27FC236}">
                <a16:creationId xmlns:a16="http://schemas.microsoft.com/office/drawing/2014/main" xmlns="" id="{755AA104-B2D7-EB00-B066-354329DB9C8C}"/>
              </a:ext>
            </a:extLst>
          </p:cNvPr>
          <p:cNvSpPr txBox="1">
            <a:spLocks/>
          </p:cNvSpPr>
          <p:nvPr/>
        </p:nvSpPr>
        <p:spPr bwMode="auto">
          <a:xfrm>
            <a:off x="840657" y="1428421"/>
            <a:ext cx="7947339" cy="5060869"/>
          </a:xfrm>
          <a:prstGeom prst="rect">
            <a:avLst/>
          </a:prstGeom>
          <a:noFill/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	Big-Ο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is used as a tight upper-bound on the growth of an algorithm’s effort (this effort is described by the function f(n)), even though, as written, it can also be a loose upper-bound.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“Little-ο” (ο()) notation is used to describe an upper-bound that cannot be tight.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34504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xmlns="" id="{57FE174C-2C6C-BACB-E1EF-E7CF87493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xmlns="" id="{039610BC-42CA-7267-440D-E771D9DD4C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144;p23">
            <a:extLst>
              <a:ext uri="{FF2B5EF4-FFF2-40B4-BE49-F238E27FC236}">
                <a16:creationId xmlns:a16="http://schemas.microsoft.com/office/drawing/2014/main" xmlns="" id="{F2349FC6-68AA-99C1-3297-254FC573D0E3}"/>
              </a:ext>
            </a:extLst>
          </p:cNvPr>
          <p:cNvSpPr txBox="1">
            <a:spLocks/>
          </p:cNvSpPr>
          <p:nvPr/>
        </p:nvSpPr>
        <p:spPr>
          <a:xfrm>
            <a:off x="757500" y="262767"/>
            <a:ext cx="7924800" cy="70493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spcFirstLastPara="1" wrap="square" lIns="91425" tIns="45700" rIns="91425" bIns="4570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Little </a:t>
            </a:r>
            <a:r>
              <a:rPr kumimoji="0" lang="el-GR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ω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asymptotic notation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  <a:sym typeface="Cambria"/>
            </a:endParaRPr>
          </a:p>
        </p:txBody>
      </p:sp>
      <p:sp>
        <p:nvSpPr>
          <p:cNvPr id="6" name="Google Shape;145;p23">
            <a:extLst>
              <a:ext uri="{FF2B5EF4-FFF2-40B4-BE49-F238E27FC236}">
                <a16:creationId xmlns:a16="http://schemas.microsoft.com/office/drawing/2014/main" xmlns="" id="{199BAF4A-2DFE-F62A-E93C-F1257BE50758}"/>
              </a:ext>
            </a:extLst>
          </p:cNvPr>
          <p:cNvSpPr txBox="1">
            <a:spLocks/>
          </p:cNvSpPr>
          <p:nvPr/>
        </p:nvSpPr>
        <p:spPr bwMode="auto">
          <a:xfrm>
            <a:off x="707922" y="1177167"/>
            <a:ext cx="7974377" cy="5326872"/>
          </a:xfrm>
          <a:prstGeom prst="rect">
            <a:avLst/>
          </a:prstGeom>
          <a:noFill/>
        </p:spPr>
        <p:txBody>
          <a:bodyPr vert="horz" wrap="square" lIns="91425" tIns="45700" rIns="91425" bIns="457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	</a:t>
            </a: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Let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f(n) and g(n) be functions that map positive integers to positive real numbers. We say that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f(n) = ω(g(n))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if for any real constant c &gt; 0, there exists an integer constant n0 ≥ 1 such that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f(n) &gt; c * g(n) ≥ 0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for every integer n ≥ n0.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	f(n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) has a higher growth rate than g(n),so main difference between Big Omega (Ω) and little omega (ω) lies in their definitions: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In the case of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Big Omega f(n)=Ω(g(n))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and the bound 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0&lt;=c*g(n)&lt;=f(n), </a:t>
            </a:r>
          </a:p>
          <a:p>
            <a:pPr marL="742950" marR="0" lvl="1" indent="-28575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but in case of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little omega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, it is true for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itchFamily="34" charset="0"/>
                <a:ea typeface="Calibri" pitchFamily="34" charset="0"/>
                <a:cs typeface="Calibri" pitchFamily="34" charset="0"/>
              </a:rPr>
              <a:t>0&lt;=c*g(n)&lt;f(n).</a:t>
            </a:r>
          </a:p>
        </p:txBody>
      </p:sp>
    </p:spTree>
    <p:extLst>
      <p:ext uri="{BB962C8B-B14F-4D97-AF65-F5344CB8AC3E}">
        <p14:creationId xmlns:p14="http://schemas.microsoft.com/office/powerpoint/2010/main" xmlns="" val="649321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xmlns="" id="{2A18E393-2F51-EB19-24F3-365F9B677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xmlns="" id="{B7625D6E-BE07-D5DE-44E0-C5F84CC863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97C9A6D-8941-C6A1-9FFE-34E08B93B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68" y="935116"/>
            <a:ext cx="7933733" cy="501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29634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Next Lecture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sz="24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Inductions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…..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42925" y="365126"/>
            <a:ext cx="7972425" cy="806450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Practice Questions</a:t>
            </a:r>
            <a:endParaRPr lang="en-IN" sz="4000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887794"/>
            <a:ext cx="9144000" cy="3097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8C16E0BE-5E4E-D8A1-5CB2-8142F9754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B227BF8B-63CF-08D9-3EFB-1157B57C13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392;p15">
            <a:extLst>
              <a:ext uri="{FF2B5EF4-FFF2-40B4-BE49-F238E27FC236}">
                <a16:creationId xmlns="" xmlns:a16="http://schemas.microsoft.com/office/drawing/2014/main" id="{4B714057-CA43-4B1E-290C-27F7B4BBA00C}"/>
              </a:ext>
            </a:extLst>
          </p:cNvPr>
          <p:cNvSpPr txBox="1">
            <a:spLocks/>
          </p:cNvSpPr>
          <p:nvPr/>
        </p:nvSpPr>
        <p:spPr>
          <a:xfrm>
            <a:off x="737419" y="206477"/>
            <a:ext cx="8139881" cy="1062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400"/>
            </a:pPr>
            <a:r>
              <a:rPr lang="en-US" sz="4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References/ Articles/ Videos</a:t>
            </a:r>
            <a:br>
              <a:rPr lang="en-US" sz="4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4000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3" name="Google Shape;393;p15">
            <a:extLst>
              <a:ext uri="{FF2B5EF4-FFF2-40B4-BE49-F238E27FC236}">
                <a16:creationId xmlns="" xmlns:a16="http://schemas.microsoft.com/office/drawing/2014/main" id="{608E7807-268F-6231-F0B6-EAFF3AD18E5B}"/>
              </a:ext>
            </a:extLst>
          </p:cNvPr>
          <p:cNvSpPr txBox="1">
            <a:spLocks/>
          </p:cNvSpPr>
          <p:nvPr/>
        </p:nvSpPr>
        <p:spPr>
          <a:xfrm>
            <a:off x="786997" y="1547516"/>
            <a:ext cx="8001000" cy="511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</a:pPr>
            <a:r>
              <a:rPr lang="en-US" sz="1800" b="1" dirty="0">
                <a:solidFill>
                  <a:schemeClr val="bg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Text books:</a:t>
            </a:r>
          </a:p>
          <a:p>
            <a:pPr marL="0" indent="-114300">
              <a:lnSpc>
                <a:spcPct val="100000"/>
              </a:lnSpc>
              <a:spcBef>
                <a:spcPts val="360"/>
              </a:spcBef>
              <a:buSzPts val="1800"/>
            </a:pPr>
            <a:r>
              <a:rPr lang="en-US" sz="1800" dirty="0" err="1">
                <a:solidFill>
                  <a:schemeClr val="bg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Cormen</a:t>
            </a: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, </a:t>
            </a:r>
            <a:r>
              <a:rPr lang="en-US" sz="1800" dirty="0" err="1">
                <a:solidFill>
                  <a:schemeClr val="bg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Leiserson</a:t>
            </a: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, Rivest, Stein, “Introduction to Algorithms”, Prentice Hall of India, 3</a:t>
            </a:r>
            <a:r>
              <a:rPr lang="en-US" sz="1800" baseline="30000" dirty="0">
                <a:solidFill>
                  <a:schemeClr val="bg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rd</a:t>
            </a: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edition 2012. problem, Graph coloring.</a:t>
            </a:r>
          </a:p>
          <a:p>
            <a:pPr marL="0" indent="-114300">
              <a:lnSpc>
                <a:spcPct val="100000"/>
              </a:lnSpc>
              <a:spcBef>
                <a:spcPts val="360"/>
              </a:spcBef>
              <a:buSzPts val="1800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Horowitz, Sahni and Rajasekaran, “Fundamentals of </a:t>
            </a:r>
            <a:r>
              <a:rPr lang="en-US" sz="1800" dirty="0" err="1">
                <a:solidFill>
                  <a:schemeClr val="bg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ComputerAlgorithms</a:t>
            </a: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”, University Press (India), 2</a:t>
            </a:r>
            <a:r>
              <a:rPr lang="en-US" sz="1800" baseline="30000" dirty="0">
                <a:solidFill>
                  <a:schemeClr val="bg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nd</a:t>
            </a: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edition</a:t>
            </a:r>
          </a:p>
          <a:p>
            <a:pPr marL="0" indent="0">
              <a:lnSpc>
                <a:spcPct val="100000"/>
              </a:lnSpc>
              <a:buFont typeface="Arial"/>
              <a:buNone/>
            </a:pPr>
            <a:endParaRPr lang="en-US" sz="1800" dirty="0">
              <a:solidFill>
                <a:schemeClr val="bg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>
              <a:lnSpc>
                <a:spcPct val="100000"/>
              </a:lnSpc>
              <a:buFont typeface="Arial"/>
              <a:buNone/>
            </a:pPr>
            <a:r>
              <a:rPr lang="en-US" sz="1800" b="1" dirty="0">
                <a:solidFill>
                  <a:schemeClr val="bg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Websites</a:t>
            </a: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:</a:t>
            </a:r>
          </a:p>
          <a:p>
            <a:pPr marL="0" indent="-1905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ts val="300"/>
              <a:buNone/>
            </a:pPr>
            <a:r>
              <a:rPr lang="en-US" sz="1800" dirty="0" smtClean="0">
                <a:solidFill>
                  <a:schemeClr val="bg2"/>
                </a:solidFill>
                <a:latin typeface="Calibri" pitchFamily="34" charset="0"/>
                <a:ea typeface="Calibri" pitchFamily="34" charset="0"/>
                <a:cs typeface="Calibri" pitchFamily="34" charset="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 https</a:t>
            </a: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0"/>
                <a:cs typeface="Calibri" pitchFamily="34" charset="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://www.geeksforgeeks.org/introduction-to-algorithms/</a:t>
            </a:r>
            <a:endParaRPr lang="en-US" sz="1800" dirty="0">
              <a:solidFill>
                <a:schemeClr val="bg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-1905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ts val="300"/>
              <a:buFont typeface="Arial"/>
              <a:buAutoNum type="arabicPeriod"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0"/>
                <a:cs typeface="Calibri" pitchFamily="34" charset="0"/>
                <a:hlinkClick r:id="rId4"/>
              </a:rPr>
              <a:t>https://</a:t>
            </a:r>
            <a:r>
              <a:rPr lang="en-US" sz="1800" dirty="0" smtClean="0">
                <a:solidFill>
                  <a:schemeClr val="bg2"/>
                </a:solidFill>
                <a:latin typeface="Calibri" pitchFamily="34" charset="0"/>
                <a:ea typeface="Calibri" pitchFamily="34" charset="0"/>
                <a:cs typeface="Calibri" pitchFamily="34" charset="0"/>
                <a:hlinkClick r:id="rId4"/>
              </a:rPr>
              <a:t>www.tutorialspoint.com/design_and_analysis_of_algorithms/index.htm</a:t>
            </a:r>
            <a:endParaRPr lang="en-US" sz="1800" dirty="0" smtClean="0">
              <a:solidFill>
                <a:schemeClr val="bg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-1905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ts val="300"/>
              <a:buFont typeface="Arial"/>
              <a:buAutoNum type="arabicPeriod"/>
            </a:pPr>
            <a:endParaRPr lang="en-US" sz="1800" dirty="0" smtClean="0">
              <a:solidFill>
                <a:schemeClr val="bg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algn="just">
              <a:buNone/>
            </a:pPr>
            <a:r>
              <a:rPr lang="en-US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Video Links:</a:t>
            </a:r>
          </a:p>
          <a:p>
            <a:pPr lvl="0" algn="just">
              <a:buNone/>
            </a:pPr>
            <a:r>
              <a:rPr lang="en-US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https://youtu.be/UglQN5S9-lc?si=0g26HAB8i7TO1hFc</a:t>
            </a:r>
            <a:endParaRPr lang="en-US" sz="18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>
              <a:buNone/>
            </a:pPr>
            <a:r>
              <a:rPr lang="en-US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https://youtu.be/EolP-WNP-Zc?si=7OBaaU35ebbBzd4Y</a:t>
            </a:r>
            <a:endParaRPr lang="en-US" sz="18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>
              <a:buNone/>
            </a:pPr>
            <a:r>
              <a:rPr lang="en-US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https://youtu.be/9mjGoOBy8vs?si=aWk8KncPVCHIUD9m</a:t>
            </a:r>
            <a:endParaRPr lang="en-US" sz="18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-1905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ts val="300"/>
              <a:buFont typeface="Arial"/>
              <a:buAutoNum type="arabicPeriod"/>
            </a:pPr>
            <a:endParaRPr lang="en-US" sz="1800" dirty="0">
              <a:solidFill>
                <a:schemeClr val="bg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ts val="300"/>
              <a:buFont typeface="Arial"/>
              <a:buNone/>
            </a:pPr>
            <a:endParaRPr lang="en-US" sz="1800" dirty="0">
              <a:solidFill>
                <a:schemeClr val="bg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400"/>
              </a:spcBef>
              <a:buFont typeface="Arial"/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342900" indent="-190500">
              <a:buFont typeface="Arial"/>
              <a:buNone/>
            </a:pP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398201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="" xmlns:a16="http://schemas.microsoft.com/office/drawing/2014/main" id="{C6C23ABF-C8EE-EA05-F7EE-2B8C43F1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="" xmlns:a16="http://schemas.microsoft.com/office/drawing/2014/main" id="{593698A8-3266-35AD-BB7C-2D517F1F53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896033"/>
            <a:ext cx="8001000" cy="38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398;p16">
            <a:extLst>
              <a:ext uri="{FF2B5EF4-FFF2-40B4-BE49-F238E27FC236}">
                <a16:creationId xmlns="" xmlns:a16="http://schemas.microsoft.com/office/drawing/2014/main" id="{6F49410F-EBB5-30E5-9EAD-BE507179EEE1}"/>
              </a:ext>
            </a:extLst>
          </p:cNvPr>
          <p:cNvSpPr txBox="1">
            <a:spLocks/>
          </p:cNvSpPr>
          <p:nvPr/>
        </p:nvSpPr>
        <p:spPr>
          <a:xfrm>
            <a:off x="678425" y="176981"/>
            <a:ext cx="8259097" cy="1658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1900"/>
            </a:pPr>
            <a:r>
              <a:rPr lang="en-US" sz="4000" b="1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Faculty-curated videos, NPTEL, Coursera, LinkedIn, or other relevant learning resources</a:t>
            </a:r>
          </a:p>
        </p:txBody>
      </p:sp>
      <p:sp>
        <p:nvSpPr>
          <p:cNvPr id="3" name="Google Shape;399;p16">
            <a:extLst>
              <a:ext uri="{FF2B5EF4-FFF2-40B4-BE49-F238E27FC236}">
                <a16:creationId xmlns="" xmlns:a16="http://schemas.microsoft.com/office/drawing/2014/main" id="{FD57801D-30BB-E7C7-3950-4312264ED9AE}"/>
              </a:ext>
            </a:extLst>
          </p:cNvPr>
          <p:cNvSpPr txBox="1">
            <a:spLocks/>
          </p:cNvSpPr>
          <p:nvPr/>
        </p:nvSpPr>
        <p:spPr>
          <a:xfrm>
            <a:off x="757500" y="2374969"/>
            <a:ext cx="8001000" cy="370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27100" lvl="1" indent="-457200">
              <a:spcBef>
                <a:spcPts val="0"/>
              </a:spcBef>
              <a:buClr>
                <a:srgbClr val="000000"/>
              </a:buClr>
              <a:buSzPts val="200"/>
              <a:buFont typeface="+mj-lt"/>
              <a:buAutoNum type="arabicPeriod"/>
            </a:pPr>
            <a:endParaRPr lang="en-IN" dirty="0"/>
          </a:p>
          <a:p>
            <a:pPr marL="584200" indent="-457200">
              <a:lnSpc>
                <a:spcPct val="150000"/>
              </a:lnSpc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1800" dirty="0">
                <a:latin typeface="Calibri"/>
                <a:ea typeface="Calibri"/>
                <a:cs typeface="Calibri"/>
                <a:sym typeface="Calibri"/>
                <a:hlinkClick r:id="rId3"/>
              </a:rPr>
              <a:t>https://onlinecourses.nptel.ac.in/noc23_cs96/preview</a:t>
            </a:r>
            <a:r>
              <a:rPr lang="en-IN" sz="1800" dirty="0"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584200" indent="-457200">
              <a:lnSpc>
                <a:spcPct val="150000"/>
              </a:lnSpc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1800" dirty="0">
                <a:latin typeface="Calibri"/>
                <a:ea typeface="Calibri"/>
                <a:cs typeface="Calibri"/>
                <a:sym typeface="Calibri"/>
                <a:hlinkClick r:id="rId4"/>
              </a:rPr>
              <a:t>https://nptel.ac.in/courses/106106131</a:t>
            </a:r>
            <a:endParaRPr lang="en-IN" sz="18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lnSpc>
                <a:spcPct val="150000"/>
              </a:lnSpc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1800" dirty="0">
                <a:latin typeface="Calibri"/>
                <a:ea typeface="Calibri"/>
                <a:cs typeface="Calibri"/>
                <a:sym typeface="Calibri"/>
                <a:hlinkClick r:id="rId5"/>
              </a:rPr>
              <a:t>https://nptel.ac.in/courses/106106208</a:t>
            </a:r>
            <a:endParaRPr lang="en-IN" sz="18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lnSpc>
                <a:spcPct val="150000"/>
              </a:lnSpc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1800" dirty="0">
                <a:latin typeface="Calibri"/>
                <a:ea typeface="Calibri"/>
                <a:cs typeface="Calibri"/>
                <a:sym typeface="Calibri"/>
                <a:hlinkClick r:id="rId6"/>
              </a:rPr>
              <a:t>https://www.linkedin.com/learning/learning-algorithms</a:t>
            </a:r>
            <a:endParaRPr lang="en-IN" sz="1800" dirty="0">
              <a:latin typeface="Calibri"/>
              <a:ea typeface="Calibri"/>
              <a:cs typeface="Calibri"/>
              <a:sym typeface="Calibri"/>
            </a:endParaRPr>
          </a:p>
          <a:p>
            <a:pPr marL="127000" indent="0">
              <a:spcBef>
                <a:spcPts val="400"/>
              </a:spcBef>
              <a:buSzPts val="2000"/>
              <a:buFont typeface="Arial"/>
              <a:buNone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127000" indent="0">
              <a:spcBef>
                <a:spcPts val="400"/>
              </a:spcBef>
              <a:buSzPts val="2000"/>
              <a:buFont typeface="Arial"/>
              <a:buNone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29055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57212" y="365125"/>
            <a:ext cx="7958137" cy="1325563"/>
          </a:xfrm>
        </p:spPr>
        <p:txBody>
          <a:bodyPr/>
          <a:lstStyle/>
          <a:p>
            <a:pPr lvl="0" algn="ctr"/>
            <a:r>
              <a:rPr lang="en-US" sz="4000" b="1" dirty="0" smtClean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Class-Wise </a:t>
            </a:r>
            <a:r>
              <a:rPr lang="en-IN" sz="4000" b="1" dirty="0" smtClean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Feedback</a:t>
            </a:r>
            <a:endParaRPr lang="en-US" sz="4000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1685925" y="4429126"/>
            <a:ext cx="5414963" cy="61436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https://forms.gle/hDw6VtS7k2r4amVF7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19463" y="2390775"/>
            <a:ext cx="19050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2043112" y="5117068"/>
            <a:ext cx="47005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Kindly scan the QR code to fill out the </a:t>
            </a:r>
            <a:r>
              <a:rPr lang="en-US" sz="16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feedbackform</a:t>
            </a:r>
            <a:r>
              <a:rPr lang="en-US" sz="16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Your input is valuable for </a:t>
            </a:r>
            <a:r>
              <a:rPr lang="en-US" sz="16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enhancingteaching</a:t>
            </a:r>
            <a:r>
              <a:rPr lang="en-US" sz="16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quality and course delivery.</a:t>
            </a:r>
            <a:r>
              <a:rPr 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/>
          <p:nvPr/>
        </p:nvSpPr>
        <p:spPr>
          <a:xfrm>
            <a:off x="0" y="1143000"/>
            <a:ext cx="9144000" cy="3228975"/>
          </a:xfrm>
          <a:prstGeom prst="rect">
            <a:avLst/>
          </a:prstGeom>
          <a:solidFill>
            <a:srgbClr val="385623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  <p:cxnSp>
        <p:nvCxnSpPr>
          <p:cNvPr id="227" name="Google Shape;227;p18"/>
          <p:cNvCxnSpPr/>
          <p:nvPr/>
        </p:nvCxnSpPr>
        <p:spPr>
          <a:xfrm>
            <a:off x="7010400" y="857250"/>
            <a:ext cx="1371600" cy="13716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8" name="Google Shape;228;p18"/>
          <p:cNvCxnSpPr/>
          <p:nvPr/>
        </p:nvCxnSpPr>
        <p:spPr>
          <a:xfrm>
            <a:off x="7626350" y="857250"/>
            <a:ext cx="498475" cy="49847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9" name="Google Shape;229;p18"/>
          <p:cNvCxnSpPr/>
          <p:nvPr/>
        </p:nvCxnSpPr>
        <p:spPr>
          <a:xfrm>
            <a:off x="550863" y="5578475"/>
            <a:ext cx="417512" cy="4191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0" name="Google Shape;230;p18"/>
          <p:cNvCxnSpPr/>
          <p:nvPr/>
        </p:nvCxnSpPr>
        <p:spPr>
          <a:xfrm>
            <a:off x="293688" y="4703763"/>
            <a:ext cx="1295400" cy="1296987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1" name="Google Shape;231;p18"/>
          <p:cNvSpPr txBox="1"/>
          <p:nvPr/>
        </p:nvSpPr>
        <p:spPr>
          <a:xfrm>
            <a:off x="1114425" y="2544763"/>
            <a:ext cx="8043863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YOU</a:t>
            </a:r>
          </a:p>
        </p:txBody>
      </p:sp>
      <p:sp>
        <p:nvSpPr>
          <p:cNvPr id="232" name="Google Shape;232;p18"/>
          <p:cNvSpPr/>
          <p:nvPr/>
        </p:nvSpPr>
        <p:spPr>
          <a:xfrm>
            <a:off x="1981200" y="1768475"/>
            <a:ext cx="1822450" cy="2419350"/>
          </a:xfrm>
          <a:custGeom>
            <a:avLst/>
            <a:gdLst/>
            <a:ahLst/>
            <a:cxnLst/>
            <a:rect l="l" t="t" r="r" b="b"/>
            <a:pathLst>
              <a:path w="2430463" h="3225800" extrusionOk="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2173288" y="1768475"/>
            <a:ext cx="1824037" cy="2419350"/>
          </a:xfrm>
          <a:custGeom>
            <a:avLst/>
            <a:gdLst/>
            <a:ahLst/>
            <a:cxnLst/>
            <a:rect l="l" t="t" r="r" b="b"/>
            <a:pathLst>
              <a:path w="2430463" h="3225800" extrusionOk="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34" name="Google Shape;234;p18"/>
          <p:cNvSpPr/>
          <p:nvPr/>
        </p:nvSpPr>
        <p:spPr>
          <a:xfrm>
            <a:off x="2171701" y="4560888"/>
            <a:ext cx="517207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For queries</a:t>
            </a:r>
            <a:endParaRPr sz="1800" b="1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 panose="020B0604020202020204"/>
              </a:rPr>
              <a:t>Email: kriti.e13537@cumail.in</a:t>
            </a:r>
            <a:endParaRPr sz="1800" b="1" i="0" u="none" strike="noStrike" cap="none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t 2.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591</Words>
  <Application>WPS Presentation</Application>
  <PresentationFormat>On-screen Show (4:3)</PresentationFormat>
  <Paragraphs>127</Paragraphs>
  <Slides>25</Slides>
  <Notes>20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Unit 2.1</vt:lpstr>
      <vt:lpstr>CorelDRAW</vt:lpstr>
      <vt:lpstr>Slide 1</vt:lpstr>
      <vt:lpstr> Course Objectives</vt:lpstr>
      <vt:lpstr>Course Outcomes</vt:lpstr>
      <vt:lpstr>Unit-1 Syllabus</vt:lpstr>
      <vt:lpstr>Topics to be covered</vt:lpstr>
      <vt:lpstr>Design and Analysis of Algorithm</vt:lpstr>
      <vt:lpstr>Basic Concept</vt:lpstr>
      <vt:lpstr>Introduction to Algorithm</vt:lpstr>
      <vt:lpstr>Characteristics of a Good Algorithm</vt:lpstr>
      <vt:lpstr>Importance of Studying Algorithms</vt:lpstr>
      <vt:lpstr>Analysis of Algorithms</vt:lpstr>
      <vt:lpstr>Ordered Notations</vt:lpstr>
      <vt:lpstr>Types of Ordered Notations</vt:lpstr>
      <vt:lpstr>Slide 14</vt:lpstr>
      <vt:lpstr>Slide 15</vt:lpstr>
      <vt:lpstr>Slide 16</vt:lpstr>
      <vt:lpstr>Slide 17</vt:lpstr>
      <vt:lpstr>Slide 18</vt:lpstr>
      <vt:lpstr>Slide 19</vt:lpstr>
      <vt:lpstr>                      Next Lecture</vt:lpstr>
      <vt:lpstr>Practice Questions</vt:lpstr>
      <vt:lpstr>Slide 22</vt:lpstr>
      <vt:lpstr>Slide 23</vt:lpstr>
      <vt:lpstr>Class-Wise Feedback</vt:lpstr>
      <vt:lpstr>Slide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LENOVO</cp:lastModifiedBy>
  <cp:revision>170</cp:revision>
  <dcterms:created xsi:type="dcterms:W3CDTF">2008-06-16T13:44:00Z</dcterms:created>
  <dcterms:modified xsi:type="dcterms:W3CDTF">2025-12-07T12:54:00Z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2198DE1FFB5D4593A10468E611E8E4E9_12</vt:lpwstr>
  </property>
  <property fmtid="{D5CDD505-2E9C-101B-9397-08002B2CF9AE}" pid="3" name="KSOProductBuildVer">
    <vt:lpwstr>1033-12.2.0.23155</vt:lpwstr>
  </property>
</Properties>
</file>