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9"/>
  </p:notesMasterIdLst>
  <p:sldIdLst>
    <p:sldId id="394" r:id="rId2"/>
    <p:sldId id="395" r:id="rId3"/>
    <p:sldId id="396" r:id="rId4"/>
    <p:sldId id="397" r:id="rId5"/>
    <p:sldId id="332" r:id="rId6"/>
    <p:sldId id="333" r:id="rId7"/>
    <p:sldId id="401" r:id="rId8"/>
    <p:sldId id="380" r:id="rId9"/>
    <p:sldId id="402" r:id="rId10"/>
    <p:sldId id="403" r:id="rId11"/>
    <p:sldId id="404" r:id="rId12"/>
    <p:sldId id="405" r:id="rId13"/>
    <p:sldId id="391" r:id="rId14"/>
    <p:sldId id="393" r:id="rId15"/>
    <p:sldId id="398" r:id="rId16"/>
    <p:sldId id="399" r:id="rId17"/>
    <p:sldId id="400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0DE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176" autoAdjust="0"/>
    <p:restoredTop sz="94790" autoAdjust="0"/>
  </p:normalViewPr>
  <p:slideViewPr>
    <p:cSldViewPr>
      <p:cViewPr varScale="1">
        <p:scale>
          <a:sx n="72" d="100"/>
          <a:sy n="72" d="100"/>
        </p:scale>
        <p:origin x="-130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58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21E2D30-8D09-4EFF-99BC-7D2BDCF5AD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1737918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xmlns="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xmlns="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2341823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1F17DA1-C521-4C97-A644-A893F87AA7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64376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D3B6E13-2B10-485D-9E3D-CD80CF9FDE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94322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E023435-B141-4712-AD5B-06A49B1423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75211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BAE0A56-81DD-45F5-B745-715D5EC2E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197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3D7A9FC-4EA2-46D1-8655-126B668189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60181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CF8C4F2-F208-454B-BB37-5994744845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69819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B7A9A98-CAE0-43DC-91B7-C90C4CE74B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1807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D9B6AFD-A192-4C37-8069-CDFD0FFEA4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74558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FF339FD-0A20-4111-BE35-EE209E0124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45722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2B67E49-63A7-4297-B650-BEE293DA30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3231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3E7431C-A18A-4AEE-B702-D32CE53B9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3679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4288" y="1905000"/>
            <a:ext cx="9158288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4288" y="0"/>
            <a:ext cx="9158288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814388" y="1009650"/>
            <a:ext cx="7515225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385888" y="2819400"/>
            <a:ext cx="6372225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xmlns="" val="433014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2_Titl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81BDB5EE-8F6A-4B33-A544-21414014ED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6" r:id="rId13"/>
  </p:sldLayoutIdLst>
  <p:hf hdr="0" ftr="0" dt="0"/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UglQN5S9-lc?si=0g26HAB8i7TO1hFc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9mjGoOBy8vs?si=aWk8KncPVCHIUD9m" TargetMode="External"/><Relationship Id="rId4" Type="http://schemas.openxmlformats.org/officeDocument/2006/relationships/hyperlink" Target="https://youtu.be/EolP-WNP-Zc?si=7OBaaU35ebbBzd4Y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hDw6VtS7k2r4amVF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4876800"/>
            <a:ext cx="5186364" cy="11382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49">
              <a:solidFill>
                <a:prstClr val="white"/>
              </a:solidFill>
            </a:endParaRPr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7225"/>
            <a:ext cx="2055813" cy="274638"/>
          </a:xfrm>
          <a:prstGeom prst="rect">
            <a:avLst/>
          </a:prstGeom>
        </p:spPr>
        <p:txBody>
          <a:bodyPr lIns="68556" tIns="34279" rIns="68556" bIns="34279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99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6" name="Right Triangle 45">
            <a:extLst/>
          </p:cNvPr>
          <p:cNvSpPr/>
          <p:nvPr/>
        </p:nvSpPr>
        <p:spPr>
          <a:xfrm flipV="1">
            <a:off x="7129463" y="5311775"/>
            <a:ext cx="968375" cy="868363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1349" kern="0">
              <a:solidFill>
                <a:srgbClr val="FFFFFF"/>
              </a:solidFill>
              <a:latin typeface="Calibri"/>
            </a:endParaRPr>
          </a:p>
        </p:txBody>
      </p:sp>
      <p:graphicFrame>
        <p:nvGraphicFramePr>
          <p:cNvPr id="19462" name="Object 47"/>
          <p:cNvGraphicFramePr>
            <a:graphicFrameLocks noChangeAspect="1"/>
          </p:cNvGraphicFramePr>
          <p:nvPr/>
        </p:nvGraphicFramePr>
        <p:xfrm>
          <a:off x="342902" y="3571876"/>
          <a:ext cx="900112" cy="871922"/>
        </p:xfrm>
        <a:graphic>
          <a:graphicData uri="http://schemas.openxmlformats.org/presentationml/2006/ole">
            <p:oleObj spid="_x0000_s35842" name="CorelDRAW" r:id="rId3" imgW="2169000" imgH="2169360" progId="">
              <p:embed/>
            </p:oleObj>
          </a:graphicData>
        </a:graphic>
      </p:graphicFrame>
      <p:sp>
        <p:nvSpPr>
          <p:cNvPr id="37" name="Right Triangle 36">
            <a:extLst/>
          </p:cNvPr>
          <p:cNvSpPr/>
          <p:nvPr/>
        </p:nvSpPr>
        <p:spPr>
          <a:xfrm flipH="1">
            <a:off x="5284787" y="1123950"/>
            <a:ext cx="3859213" cy="438785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1349" kern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94093" y="2376762"/>
            <a:ext cx="5120286" cy="118509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49">
              <a:solidFill>
                <a:prstClr val="white"/>
              </a:solidFill>
            </a:endParaRPr>
          </a:p>
        </p:txBody>
      </p:sp>
      <p:pic>
        <p:nvPicPr>
          <p:cNvPr id="19467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04800"/>
            <a:ext cx="6629400" cy="172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7369174" y="5300663"/>
            <a:ext cx="1774825" cy="1557337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49">
              <a:solidFill>
                <a:prstClr val="white"/>
              </a:solidFill>
            </a:endParaRP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676774" y="6350297"/>
            <a:ext cx="3695700" cy="50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899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199" b="1" dirty="0">
              <a:solidFill>
                <a:prstClr val="black"/>
              </a:solidFill>
              <a:latin typeface="Casper" panose="02000506000000020004" pitchFamily="2" charset="0"/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0" y="5576888"/>
            <a:ext cx="5214938" cy="103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indent="-152400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n-US" sz="1800" b="1" dirty="0" smtClean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Topic-</a:t>
            </a:r>
            <a:r>
              <a:rPr lang="en-US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Pigeonhole Principle</a:t>
            </a:r>
            <a:endParaRPr lang="en-US" sz="1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indent="-152400">
              <a:lnSpc>
                <a:spcPct val="90000"/>
              </a:lnSpc>
              <a:buClr>
                <a:schemeClr val="dk1"/>
              </a:buClr>
              <a:buSzPts val="2400"/>
            </a:pPr>
            <a:endParaRPr lang="en-US" sz="1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 indent="-152400" algn="ctr">
              <a:lnSpc>
                <a:spcPct val="90000"/>
              </a:lnSpc>
              <a:buClr>
                <a:schemeClr val="dk1"/>
              </a:buClr>
              <a:buSzPts val="2400"/>
            </a:pP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ctr" defTabSz="466534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endParaRPr lang="en-US" sz="1600" b="1" dirty="0">
              <a:solidFill>
                <a:prstClr val="black">
                  <a:lumMod val="85000"/>
                  <a:lumOff val="15000"/>
                </a:prstClr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407988" y="2100263"/>
            <a:ext cx="8324850" cy="3250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IN" altLang="en-US" sz="3500" b="1" dirty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APEX INSTITUTE OF TECHNOLOGY</a:t>
            </a:r>
            <a:endParaRPr lang="en-US" altLang="en-US" sz="3500" dirty="0">
              <a:solidFill>
                <a:srgbClr val="0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ctr" eaLnBrk="1" hangingPunct="1"/>
            <a:r>
              <a:rPr lang="en-IN" alt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DEPARTMENT OF COMPUTER SCIENCE &amp; ENGINEERING</a:t>
            </a:r>
            <a:endParaRPr lang="en-US" altLang="en-US" sz="2100" b="1" dirty="0">
              <a:solidFill>
                <a:srgbClr val="0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endParaRPr lang="en-US" altLang="en-US" sz="2400" dirty="0">
              <a:solidFill>
                <a:srgbClr val="0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ctr"/>
            <a:r>
              <a:rPr lang="en-IN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Design and Analysis of Algorithm</a:t>
            </a:r>
          </a:p>
          <a:p>
            <a:pPr algn="ctr">
              <a:spcBef>
                <a:spcPts val="840"/>
              </a:spcBef>
            </a:pPr>
            <a:r>
              <a:rPr lang="en-IN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24CSH-282</a:t>
            </a:r>
          </a:p>
          <a:p>
            <a:pPr lvl="0" algn="ctr">
              <a:spcBef>
                <a:spcPts val="840"/>
              </a:spcBef>
            </a:pP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Master Subject Coordinator- </a:t>
            </a:r>
            <a:r>
              <a:rPr lang="en-US" sz="2400" dirty="0" err="1" smtClean="0"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Er</a:t>
            </a: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. </a:t>
            </a:r>
            <a:r>
              <a:rPr lang="en-US" sz="2400" dirty="0" err="1" smtClean="0"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Kriti</a:t>
            </a: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 Taneja (E13537</a:t>
            </a: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)</a:t>
            </a:r>
            <a:endParaRPr lang="en-US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ctr"/>
            <a:endParaRPr lang="en-US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endParaRPr lang="en-US" altLang="en-US" sz="11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title"/>
          </p:nvPr>
        </p:nvSpPr>
        <p:spPr>
          <a:xfrm>
            <a:off x="762000" y="230188"/>
            <a:ext cx="7883525" cy="101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 Course Objectives</a:t>
            </a:r>
            <a:endParaRPr sz="4000" b="1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  <a:sym typeface="Times New Roman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381000" y="1143000"/>
            <a:ext cx="8304213" cy="5498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smtClean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 </a:t>
            </a:r>
            <a:r>
              <a:rPr lang="en-US" sz="3200" b="1" i="0" u="none" strike="noStrike" cap="none" dirty="0" smtClean="0">
                <a:solidFill>
                  <a:srgbClr val="000000"/>
                </a:solidFill>
                <a:latin typeface="+mn-lt"/>
                <a:ea typeface="Calibri" pitchFamily="34" charset="0"/>
                <a:cs typeface="Calibri" pitchFamily="34" charset="0"/>
                <a:sym typeface="Times New Roman"/>
              </a:rPr>
              <a:t>The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+mn-lt"/>
                <a:ea typeface="Calibri" pitchFamily="34" charset="0"/>
                <a:cs typeface="Calibri" pitchFamily="34" charset="0"/>
                <a:sym typeface="Times New Roman"/>
              </a:rPr>
              <a:t>Course aims to:</a:t>
            </a:r>
            <a:endParaRPr sz="3200">
              <a:latin typeface="+mn-lt"/>
              <a:ea typeface="Calibri" pitchFamily="34" charset="0"/>
              <a:cs typeface="Calibri" pitchFamily="34" charset="0"/>
            </a:endParaRPr>
          </a:p>
          <a:p>
            <a:pPr marL="0" marR="0" lvl="0" indent="-152400" algn="just" rtl="0">
              <a:lnSpc>
                <a:spcPct val="150000"/>
              </a:lnSpc>
              <a:spcBef>
                <a:spcPts val="902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n-lt"/>
                <a:ea typeface="Calibri" pitchFamily="34" charset="0"/>
                <a:cs typeface="Calibri" pitchFamily="34" charset="0"/>
                <a:sym typeface="Times New Roman"/>
              </a:rPr>
              <a:t>The Student will acquire knowledge on Proving Algorithm Correctness</a:t>
            </a:r>
            <a:endParaRPr sz="2400">
              <a:latin typeface="+mn-lt"/>
              <a:ea typeface="Calibri" pitchFamily="34" charset="0"/>
              <a:cs typeface="Calibri" pitchFamily="34" charset="0"/>
            </a:endParaRPr>
          </a:p>
          <a:p>
            <a:pPr marL="0" marR="0" lvl="0" indent="-152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n-lt"/>
                <a:ea typeface="Calibri" pitchFamily="34" charset="0"/>
                <a:cs typeface="Calibri" pitchFamily="34" charset="0"/>
                <a:sym typeface="Times New Roman"/>
              </a:rPr>
              <a:t>To analyze and design different algorithms based on different designing approaches.</a:t>
            </a:r>
            <a:endParaRPr sz="2400" b="0" i="0" u="none" strike="noStrike" cap="none">
              <a:solidFill>
                <a:schemeClr val="dk1"/>
              </a:solidFill>
              <a:latin typeface="+mn-lt"/>
              <a:ea typeface="Calibri" pitchFamily="34" charset="0"/>
              <a:cs typeface="Calibri" pitchFamily="34" charset="0"/>
              <a:sym typeface="Times New Roman"/>
            </a:endParaRPr>
          </a:p>
          <a:p>
            <a:pPr marL="0" marR="0" lvl="0" indent="-152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n-lt"/>
                <a:ea typeface="Calibri" pitchFamily="34" charset="0"/>
                <a:cs typeface="Calibri" pitchFamily="34" charset="0"/>
                <a:sym typeface="Times New Roman"/>
              </a:rPr>
              <a:t>To choose appropriate algorithm design techniques for solving real-time problems.</a:t>
            </a:r>
            <a:endParaRPr sz="2400" b="0" i="0" u="none" strike="noStrike" cap="none">
              <a:solidFill>
                <a:schemeClr val="dk1"/>
              </a:solidFill>
              <a:latin typeface="+mn-lt"/>
              <a:ea typeface="Calibri" pitchFamily="34" charset="0"/>
              <a:cs typeface="Calibri" pitchFamily="34" charset="0"/>
              <a:sym typeface="Times New Roman"/>
            </a:endParaRPr>
          </a:p>
          <a:p>
            <a:pPr marL="0" marR="0" lvl="0" indent="-152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n-lt"/>
                <a:ea typeface="Calibri" pitchFamily="34" charset="0"/>
                <a:cs typeface="Calibri" pitchFamily="34" charset="0"/>
                <a:sym typeface="Times New Roman"/>
              </a:rPr>
              <a:t>To apply and synthesize efficient algorithms.</a:t>
            </a:r>
            <a:endParaRPr sz="2400" b="0" i="0" u="none" strike="noStrike" cap="none">
              <a:solidFill>
                <a:schemeClr val="dk1"/>
              </a:solidFill>
              <a:latin typeface="+mn-lt"/>
              <a:ea typeface="Calibri" pitchFamily="34" charset="0"/>
              <a:cs typeface="Calibri" pitchFamily="34" charset="0"/>
              <a:sym typeface="Times New Roman"/>
            </a:endParaRPr>
          </a:p>
          <a:p>
            <a:pPr marL="342900" marR="0" lvl="0" indent="-34290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.</a:t>
            </a:r>
            <a:endParaRPr sz="2000" b="0" i="0" u="none" strike="noStrike" cap="none">
              <a:solidFill>
                <a:schemeClr val="dk1"/>
              </a:solidFill>
              <a:latin typeface="Calibri" pitchFamily="34" charset="0"/>
              <a:ea typeface="Calibri" pitchFamily="34" charset="0"/>
              <a:cs typeface="Calibri" pitchFamily="34" charset="0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1066800" y="479425"/>
            <a:ext cx="71628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Course Outcomes</a:t>
            </a:r>
            <a:endParaRPr sz="4000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38199" y="1295400"/>
            <a:ext cx="730567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On completion of this course, the students shall be able to:-</a:t>
            </a:r>
            <a:endParaRPr sz="1800" b="0" i="0" u="none" strike="noStrike" cap="none">
              <a:solidFill>
                <a:srgbClr val="000000"/>
              </a:solidFill>
              <a:latin typeface="Calibri" pitchFamily="34" charset="0"/>
              <a:ea typeface="Calibri" pitchFamily="34" charset="0"/>
              <a:cs typeface="Calibri" pitchFamily="34" charset="0"/>
              <a:sym typeface="Times New Roman"/>
            </a:endParaRPr>
          </a:p>
        </p:txBody>
      </p:sp>
      <p:graphicFrame>
        <p:nvGraphicFramePr>
          <p:cNvPr id="125" name="Google Shape;125;p3"/>
          <p:cNvGraphicFramePr/>
          <p:nvPr/>
        </p:nvGraphicFramePr>
        <p:xfrm>
          <a:off x="514350" y="1801813"/>
          <a:ext cx="8000988" cy="4344883"/>
        </p:xfrm>
        <a:graphic>
          <a:graphicData uri="http://schemas.openxmlformats.org/drawingml/2006/table">
            <a:tbl>
              <a:tblPr bandRow="1"/>
              <a:tblGrid>
                <a:gridCol w="722138"/>
                <a:gridCol w="7278850"/>
              </a:tblGrid>
              <a:tr h="855175">
                <a:tc>
                  <a:txBody>
                    <a:bodyPr/>
                    <a:lstStyle/>
                    <a:p>
                      <a:pPr marL="0" marR="0" indent="5461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CO1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Understand the fundamental concepts of algorithm analysis, ordered notations, recurrence relations, greedy methods, and backtracking techniques. </a:t>
                      </a:r>
                    </a:p>
                  </a:txBody>
                  <a:tcPr marL="68580" marR="68580" marT="0" marB="0"/>
                </a:tc>
              </a:tr>
              <a:tr h="855175">
                <a:tc>
                  <a:txBody>
                    <a:bodyPr/>
                    <a:lstStyle/>
                    <a:p>
                      <a:pPr marL="0" marR="0" indent="5461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CO2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Apply various sorting algorithms, searching algorithms, graph algorithms and algorithmic techniques to solve computational problems effectively. </a:t>
                      </a:r>
                    </a:p>
                  </a:txBody>
                  <a:tcPr marL="68580" marR="68580" marT="0" marB="0"/>
                </a:tc>
              </a:tr>
              <a:tr h="855175">
                <a:tc>
                  <a:txBody>
                    <a:bodyPr/>
                    <a:lstStyle/>
                    <a:p>
                      <a:pPr marL="0" marR="0" indent="5461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CO3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Analyze the performance and efficiency of different algorithms in various scenarios, various classes for complex problems like P, NP and NP Complete, NP Hard. </a:t>
                      </a:r>
                    </a:p>
                  </a:txBody>
                  <a:tcPr marL="68580" marR="68580" marT="0" marB="0"/>
                </a:tc>
              </a:tr>
              <a:tr h="798450">
                <a:tc>
                  <a:txBody>
                    <a:bodyPr/>
                    <a:lstStyle/>
                    <a:p>
                      <a:pPr marL="0" marR="0" indent="5461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CO4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Evaluate and compare algorithmic strategies including dynamic programming, divide-and-conquer, greedy methods and Branch &amp; Bound. </a:t>
                      </a:r>
                    </a:p>
                  </a:txBody>
                  <a:tcPr marL="68580" marR="68580" marT="0" marB="0"/>
                </a:tc>
              </a:tr>
              <a:tr h="798450">
                <a:tc>
                  <a:txBody>
                    <a:bodyPr/>
                    <a:lstStyle/>
                    <a:p>
                      <a:pPr marL="0" marR="0" indent="5461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CO5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Design and implement optimized solutions for complex problems using advanced algorithmic techniques. 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557213" y="271463"/>
            <a:ext cx="7883525" cy="61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Unit-1 Syllabus</a:t>
            </a:r>
            <a:endParaRPr sz="4000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graphicFrame>
        <p:nvGraphicFramePr>
          <p:cNvPr id="132" name="Google Shape;132;p4"/>
          <p:cNvGraphicFramePr/>
          <p:nvPr/>
        </p:nvGraphicFramePr>
        <p:xfrm>
          <a:off x="323850" y="1643062"/>
          <a:ext cx="8210550" cy="475773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17033"/>
                <a:gridCol w="4353577"/>
                <a:gridCol w="1239940"/>
              </a:tblGrid>
              <a:tr h="71361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UNIT-1</a:t>
                      </a:r>
                      <a:endParaRPr sz="1600" b="1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Introduction, Algorithm Design Techniques, Back Tracking</a:t>
                      </a:r>
                      <a:endParaRPr sz="1600" b="1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Contact Hours:15</a:t>
                      </a:r>
                      <a:endParaRPr sz="1600" b="1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5961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Introduction</a:t>
                      </a: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Ordered Notations, Inductions, </a:t>
                      </a:r>
                      <a:r>
                        <a:rPr lang="en-US" sz="1600" b="1" u="sng" strike="noStrike" cap="none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Pigeon hole principles</a:t>
                      </a:r>
                      <a:r>
                        <a:rPr lang="en-US" sz="1600" b="0" u="none" strike="noStrike" cap="none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, Recurrence </a:t>
                      </a:r>
                      <a:r>
                        <a:rPr lang="en-US" sz="1600" b="0" u="none" strike="noStrike" cap="none" dirty="0" smtClean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Relations</a:t>
                      </a:r>
                      <a:endParaRPr sz="1600" b="0" u="none" strike="noStrike" cap="none">
                        <a:solidFill>
                          <a:schemeClr val="tx1"/>
                        </a:solidFill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7088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Algorithm Design Techniques</a:t>
                      </a: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Greedy Algorithms for Knapsack Fractional Problem, Job Sequencing Problem with the deadline, Huffman Coding, Amortization, Optimal Algorithms.</a:t>
                      </a: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1361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Back Tracking</a:t>
                      </a: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Calibri" pitchFamily="34" charset="0"/>
                          <a:ea typeface="Calibri" pitchFamily="34" charset="0"/>
                          <a:cs typeface="Calibri" pitchFamily="34" charset="0"/>
                          <a:sym typeface="Times New Roman"/>
                        </a:rPr>
                        <a:t>Understanding of Back Tracking, Recursive Back Tracking, Iterative Back Tracking, N-Queen’s Problem, Hamiltonian Cycle, Knight’s Tour Problem, Lower –Bound Theory.</a:t>
                      </a: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 pitchFamily="34" charset="0"/>
                        <a:ea typeface="Calibri" pitchFamily="34" charset="0"/>
                        <a:cs typeface="Calibri" pitchFamily="34" charset="0"/>
                        <a:sym typeface="Times New Roman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8153400" cy="557213"/>
          </a:xfrm>
        </p:spPr>
        <p:txBody>
          <a:bodyPr/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>Topic</a:t>
            </a:r>
            <a:r>
              <a:rPr lang="en-US" sz="3200" b="1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> to</a:t>
            </a:r>
            <a:r>
              <a:rPr lang="en-US" sz="3200" b="1" spc="-60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> </a:t>
            </a:r>
            <a:r>
              <a:rPr lang="en-US" sz="3200" b="1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>be</a:t>
            </a:r>
            <a:r>
              <a:rPr lang="en-US" sz="3200" b="1" spc="25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> </a:t>
            </a:r>
            <a:r>
              <a:rPr lang="en-US" sz="3200" b="1" spc="-10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>Covered</a:t>
            </a:r>
            <a:endParaRPr lang="en-US" altLang="en-US" sz="3200" b="1" dirty="0" smtClean="0">
              <a:solidFill>
                <a:srgbClr val="C0000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438399"/>
            <a:ext cx="5461000" cy="2405063"/>
          </a:xfrm>
        </p:spPr>
        <p:txBody>
          <a:bodyPr>
            <a:noAutofit/>
          </a:bodyPr>
          <a:lstStyle/>
          <a:p>
            <a:pPr fontAlgn="auto">
              <a:lnSpc>
                <a:spcPct val="20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 smtClean="0">
                <a:cs typeface="Times New Roman" pitchFamily="18" charset="0"/>
              </a:rPr>
              <a:t>Pigeonhole Principle </a:t>
            </a:r>
            <a:endParaRPr lang="en-US" sz="2100" b="1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077200" cy="6858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Pigeonhole Principle </a:t>
            </a:r>
            <a:endParaRPr lang="en-US" sz="4000" b="1" dirty="0" smtClean="0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  <a:sym typeface="Times New Roman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838200" y="1676400"/>
            <a:ext cx="7620000" cy="3733800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2400" dirty="0" smtClean="0">
                <a:cs typeface="Times New Roman" pitchFamily="18" charset="0"/>
              </a:rPr>
              <a:t>The Pigeonhole Principle (PHP) is a simple but very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400" dirty="0" smtClean="0">
                <a:cs typeface="Times New Roman" pitchFamily="18" charset="0"/>
              </a:rPr>
              <a:t>powerful mathematical principle used in algorithm 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2400" dirty="0" smtClean="0">
                <a:cs typeface="Times New Roman" pitchFamily="18" charset="0"/>
              </a:rPr>
              <a:t>analysis, </a:t>
            </a:r>
            <a:r>
              <a:rPr lang="en-US" sz="2400" dirty="0" err="1" smtClean="0">
                <a:cs typeface="Times New Roman" pitchFamily="18" charset="0"/>
              </a:rPr>
              <a:t>combinatorics</a:t>
            </a:r>
            <a:r>
              <a:rPr lang="en-US" sz="2400" dirty="0" smtClean="0">
                <a:cs typeface="Times New Roman" pitchFamily="18" charset="0"/>
              </a:rPr>
              <a:t>, and proof techniques.</a:t>
            </a:r>
          </a:p>
          <a:p>
            <a:pPr algn="just">
              <a:lnSpc>
                <a:spcPct val="150000"/>
              </a:lnSpc>
              <a:buNone/>
            </a:pPr>
            <a:endParaRPr lang="en-US" sz="2400" dirty="0" smtClean="0"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None/>
            </a:pPr>
            <a:endParaRPr lang="en-US" sz="2400" dirty="0" smtClean="0">
              <a:cs typeface="Times New Roman" pitchFamily="18" charset="0"/>
            </a:endParaRP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752600"/>
            <a:ext cx="886700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001000" cy="990600"/>
          </a:xfrm>
        </p:spPr>
        <p:txBody>
          <a:bodyPr/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>Pigeonhole Principle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295400"/>
            <a:ext cx="8458200" cy="5410200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2400" dirty="0" smtClean="0">
                <a:cs typeface="Times New Roman" pitchFamily="18" charset="0"/>
              </a:rPr>
              <a:t>In algorithms, PHP helps in:</a:t>
            </a:r>
          </a:p>
          <a:p>
            <a:pPr algn="just">
              <a:lnSpc>
                <a:spcPct val="200000"/>
              </a:lnSpc>
            </a:pPr>
            <a:r>
              <a:rPr lang="en-US" sz="2400" dirty="0" smtClean="0">
                <a:cs typeface="Times New Roman" pitchFamily="18" charset="0"/>
              </a:rPr>
              <a:t>Proving </a:t>
            </a:r>
            <a:r>
              <a:rPr lang="en-US" sz="2400" b="1" dirty="0" smtClean="0">
                <a:cs typeface="Times New Roman" pitchFamily="18" charset="0"/>
              </a:rPr>
              <a:t>existence</a:t>
            </a:r>
            <a:r>
              <a:rPr lang="en-US" sz="2400" dirty="0" smtClean="0">
                <a:cs typeface="Times New Roman" pitchFamily="18" charset="0"/>
              </a:rPr>
              <a:t> of solutions</a:t>
            </a:r>
          </a:p>
          <a:p>
            <a:pPr algn="just">
              <a:lnSpc>
                <a:spcPct val="200000"/>
              </a:lnSpc>
            </a:pPr>
            <a:r>
              <a:rPr lang="en-US" sz="2400" dirty="0" smtClean="0">
                <a:cs typeface="Times New Roman" pitchFamily="18" charset="0"/>
              </a:rPr>
              <a:t>Designing and analyzing </a:t>
            </a:r>
            <a:r>
              <a:rPr lang="en-US" sz="2400" b="1" dirty="0" smtClean="0">
                <a:cs typeface="Times New Roman" pitchFamily="18" charset="0"/>
              </a:rPr>
              <a:t>hashing</a:t>
            </a:r>
            <a:endParaRPr lang="en-US" sz="2400" dirty="0" smtClean="0">
              <a:cs typeface="Times New Roman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sz="2400" dirty="0" smtClean="0">
                <a:cs typeface="Times New Roman" pitchFamily="18" charset="0"/>
              </a:rPr>
              <a:t>Showing </a:t>
            </a:r>
            <a:r>
              <a:rPr lang="en-US" sz="2400" b="1" dirty="0" smtClean="0">
                <a:cs typeface="Times New Roman" pitchFamily="18" charset="0"/>
              </a:rPr>
              <a:t>collisions</a:t>
            </a:r>
            <a:r>
              <a:rPr lang="en-US" sz="2400" dirty="0" smtClean="0">
                <a:cs typeface="Times New Roman" pitchFamily="18" charset="0"/>
              </a:rPr>
              <a:t> must happen</a:t>
            </a:r>
          </a:p>
          <a:p>
            <a:pPr algn="just">
              <a:lnSpc>
                <a:spcPct val="200000"/>
              </a:lnSpc>
            </a:pPr>
            <a:r>
              <a:rPr lang="en-US" sz="2400" dirty="0" smtClean="0">
                <a:cs typeface="Times New Roman" pitchFamily="18" charset="0"/>
              </a:rPr>
              <a:t>Proving </a:t>
            </a:r>
            <a:r>
              <a:rPr lang="en-US" sz="2400" b="1" dirty="0" smtClean="0">
                <a:cs typeface="Times New Roman" pitchFamily="18" charset="0"/>
              </a:rPr>
              <a:t>lower bounds</a:t>
            </a:r>
            <a:r>
              <a:rPr lang="en-US" sz="2400" dirty="0" smtClean="0">
                <a:cs typeface="Times New Roman" pitchFamily="18" charset="0"/>
              </a:rPr>
              <a:t> in algorithms</a:t>
            </a:r>
          </a:p>
          <a:p>
            <a:pPr algn="just">
              <a:lnSpc>
                <a:spcPct val="200000"/>
              </a:lnSpc>
            </a:pPr>
            <a:r>
              <a:rPr lang="en-US" sz="2400" dirty="0" smtClean="0">
                <a:cs typeface="Times New Roman" pitchFamily="18" charset="0"/>
              </a:rPr>
              <a:t>Showing that certain </a:t>
            </a:r>
            <a:r>
              <a:rPr lang="en-US" sz="2400" b="1" dirty="0" smtClean="0">
                <a:cs typeface="Times New Roman" pitchFamily="18" charset="0"/>
              </a:rPr>
              <a:t>patterns must repeat</a:t>
            </a:r>
            <a:endParaRPr lang="en-US" sz="2400" dirty="0" smtClean="0">
              <a:cs typeface="Times New Roman" pitchFamily="18" charset="0"/>
            </a:endParaRPr>
          </a:p>
          <a:p>
            <a:pPr>
              <a:buNone/>
            </a:pP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5083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7886700" cy="1325563"/>
          </a:xfrm>
        </p:spPr>
        <p:txBody>
          <a:bodyPr/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Example 1: Matching socks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6758" y="1714823"/>
            <a:ext cx="7867642" cy="4304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7886700" cy="1325563"/>
          </a:xfrm>
        </p:spPr>
        <p:txBody>
          <a:bodyPr/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Example 2: Birthdays</a:t>
            </a:r>
            <a:endParaRPr lang="en-US" sz="4000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524000"/>
            <a:ext cx="7391400" cy="492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886700" cy="1325563"/>
          </a:xfrm>
        </p:spPr>
        <p:txBody>
          <a:bodyPr/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Example 3: Days of the week</a:t>
            </a:r>
            <a:endParaRPr lang="en-US" sz="4000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524168"/>
            <a:ext cx="7620000" cy="5074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86700" cy="1325563"/>
          </a:xfrm>
        </p:spPr>
        <p:txBody>
          <a:bodyPr/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Example 4: Handshake Problem</a:t>
            </a:r>
            <a:endParaRPr lang="en-US" sz="4000" b="1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573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7371" y="2286000"/>
            <a:ext cx="8778029" cy="301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Next Lecture</a:t>
            </a:r>
            <a:endParaRPr lang="en-IN" sz="4000" dirty="0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400" b="1" dirty="0">
                <a:ea typeface="Calibri"/>
                <a:cs typeface="Times New Roman" pitchFamily="18" charset="0"/>
              </a:rPr>
              <a:t>Recurrence </a:t>
            </a:r>
            <a:r>
              <a:rPr lang="en-IN" sz="2400" b="1" dirty="0" smtClean="0">
                <a:ea typeface="Calibri"/>
                <a:cs typeface="Times New Roman" pitchFamily="18" charset="0"/>
              </a:rPr>
              <a:t>Relations……….</a:t>
            </a:r>
            <a:endParaRPr lang="en-US" sz="2400" b="1" dirty="0">
              <a:ea typeface="Calibri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38310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125"/>
            <a:ext cx="7905750" cy="854075"/>
          </a:xfrm>
        </p:spPr>
        <p:txBody>
          <a:bodyPr/>
          <a:lstStyle/>
          <a:p>
            <a:pPr algn="ctr"/>
            <a:r>
              <a:rPr lang="en-IN" sz="4000" b="1" dirty="0" smtClean="0">
                <a:solidFill>
                  <a:srgbClr val="C00000"/>
                </a:solidFill>
                <a:latin typeface="+mn-lt"/>
                <a:cs typeface="Times New Roman" pitchFamily="18" charset="0"/>
              </a:rPr>
              <a:t>Practice Questions</a:t>
            </a:r>
            <a:endParaRPr lang="en-IN" sz="4000" b="1" dirty="0">
              <a:solidFill>
                <a:srgbClr val="C00000"/>
              </a:solidFill>
              <a:latin typeface="+mn-lt"/>
              <a:cs typeface="Times New Roman" pitchFamily="18" charset="0"/>
            </a:endParaRPr>
          </a:p>
        </p:txBody>
      </p:sp>
      <p:pic>
        <p:nvPicPr>
          <p:cNvPr id="583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286000"/>
            <a:ext cx="8564347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722335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>
            <a:spLocks noGrp="1"/>
          </p:cNvSpPr>
          <p:nvPr>
            <p:ph type="title"/>
          </p:nvPr>
        </p:nvSpPr>
        <p:spPr>
          <a:xfrm>
            <a:off x="614362" y="207962"/>
            <a:ext cx="7886700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Times New Roman"/>
              </a:rPr>
              <a:t>References</a:t>
            </a:r>
            <a:endParaRPr sz="3200" b="1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  <a:sym typeface="Times New Roman"/>
            </a:endParaRPr>
          </a:p>
        </p:txBody>
      </p:sp>
      <p:sp>
        <p:nvSpPr>
          <p:cNvPr id="220" name="Google Shape;220;p17"/>
          <p:cNvSpPr txBox="1">
            <a:spLocks noGrp="1"/>
          </p:cNvSpPr>
          <p:nvPr>
            <p:ph type="body" idx="1"/>
          </p:nvPr>
        </p:nvSpPr>
        <p:spPr>
          <a:xfrm>
            <a:off x="600075" y="1085850"/>
            <a:ext cx="7886700" cy="54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None/>
            </a:pPr>
            <a:r>
              <a:rPr lang="en-US" sz="1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Text Books: </a:t>
            </a: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 algn="just"/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Cormen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T. H.,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Leiserson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C. E.,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Rivest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R. L., &amp; Stein, C. (2022). Introduction to Algorithms (4th ed.). The MIT Press. </a:t>
            </a:r>
          </a:p>
          <a:p>
            <a:pPr lvl="0" algn="just"/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Horowitz, E.,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Sahni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S., &amp;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Rajasekaran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S. (2008). Fundamentals of Computer Algorithms (2nd ed.). Universities Press (India). </a:t>
            </a:r>
          </a:p>
          <a:p>
            <a:pPr lvl="0" algn="just"/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Sedgewick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R., &amp; Wayne, K. (2011). </a:t>
            </a:r>
            <a:r>
              <a:rPr lang="en-US" sz="1600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Algorithms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(4th ed.). Addison-Wesley. </a:t>
            </a:r>
          </a:p>
          <a:p>
            <a:pPr lvl="0" algn="just">
              <a:buNone/>
            </a:pP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just">
              <a:buNone/>
            </a:pPr>
            <a:r>
              <a:rPr lang="en-US" sz="1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Reference Books: </a:t>
            </a: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 algn="just"/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Tenenbaum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A. M.,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Augenstein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M. J., &amp;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Langsam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Y. (2009). Data Structures using C and C++ (2nd ed.). Prentice Hall of India. </a:t>
            </a:r>
          </a:p>
          <a:p>
            <a:pPr lvl="0" algn="just"/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Brassard, G., &amp;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Bratley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P. (1996). Fundamentals of </a:t>
            </a:r>
            <a:r>
              <a:rPr lang="en-US" sz="16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Algorithmics</a:t>
            </a: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 Prentice Hall of India. </a:t>
            </a:r>
          </a:p>
          <a:p>
            <a:pPr algn="just">
              <a:buNone/>
            </a:pPr>
            <a:endParaRPr lang="en-US" sz="16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just">
              <a:buNone/>
            </a:pPr>
            <a:r>
              <a:rPr lang="en-US" sz="1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Video Links:</a:t>
            </a: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 algn="just"/>
            <a:r>
              <a:rPr lang="en-US" sz="1600" b="1" u="sng" dirty="0" smtClean="0">
                <a:latin typeface="Calibri" pitchFamily="34" charset="0"/>
                <a:ea typeface="Calibri" pitchFamily="34" charset="0"/>
                <a:cs typeface="Calibri" pitchFamily="34" charset="0"/>
                <a:hlinkClick r:id="rId3"/>
              </a:rPr>
              <a:t>https://youtu.be/UglQN5S9-lc?si=0g26HAB8i7TO1hFc</a:t>
            </a: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 algn="just"/>
            <a:r>
              <a:rPr lang="en-US" sz="1600" b="1" u="sng" dirty="0" smtClean="0">
                <a:latin typeface="Calibri" pitchFamily="34" charset="0"/>
                <a:ea typeface="Calibri" pitchFamily="34" charset="0"/>
                <a:cs typeface="Calibri" pitchFamily="34" charset="0"/>
                <a:hlinkClick r:id="rId4"/>
              </a:rPr>
              <a:t>https://youtu.be/EolP-WNP-Zc?si=7OBaaU35ebbBzd4Y</a:t>
            </a: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0" algn="just"/>
            <a:r>
              <a:rPr lang="en-US" sz="1600" b="1" u="sng" dirty="0" smtClean="0">
                <a:latin typeface="Calibri" pitchFamily="34" charset="0"/>
                <a:ea typeface="Calibri" pitchFamily="34" charset="0"/>
                <a:cs typeface="Calibri" pitchFamily="34" charset="0"/>
                <a:hlinkClick r:id="rId5"/>
              </a:rPr>
              <a:t>https://youtu.be/9mjGoOBy8vs?si=aWk8KncPVCHIUD9m</a:t>
            </a: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57212" y="365125"/>
            <a:ext cx="7958137" cy="1325563"/>
          </a:xfrm>
        </p:spPr>
        <p:txBody>
          <a:bodyPr/>
          <a:lstStyle/>
          <a:p>
            <a:pPr lvl="0" algn="ctr"/>
            <a:r>
              <a:rPr lang="en-US" sz="4000" b="1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Class-Wise </a:t>
            </a:r>
            <a:r>
              <a:rPr lang="en-IN" sz="4000" b="1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Feedback</a:t>
            </a:r>
            <a:endParaRPr lang="en-US" sz="4000" b="1" dirty="0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685925" y="4429126"/>
            <a:ext cx="5414963" cy="61436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https://forms.gle/hDw6VtS7k2r4amVF7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19463" y="2390775"/>
            <a:ext cx="1905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043112" y="5117068"/>
            <a:ext cx="47005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Kindly scan the QR code to fill out the </a:t>
            </a:r>
            <a:r>
              <a:rPr lang="en-US" sz="1600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feedbackform</a:t>
            </a:r>
            <a:r>
              <a:rPr lang="en-US" sz="16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Your input is valuable for </a:t>
            </a:r>
            <a:r>
              <a:rPr lang="en-US" sz="1600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enhancingteaching</a:t>
            </a:r>
            <a:r>
              <a:rPr lang="en-US" sz="16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quality and course delivery.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​</a:t>
            </a:r>
            <a:endParaRPr lang="en-US" sz="1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17963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>
            <a:off x="0" y="1143000"/>
            <a:ext cx="9144000" cy="3228975"/>
          </a:xfrm>
          <a:prstGeom prst="rect">
            <a:avLst/>
          </a:prstGeom>
          <a:solidFill>
            <a:srgbClr val="38562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227" name="Google Shape;227;p18"/>
          <p:cNvCxnSpPr/>
          <p:nvPr/>
        </p:nvCxnSpPr>
        <p:spPr>
          <a:xfrm>
            <a:off x="7010400" y="857250"/>
            <a:ext cx="1371600" cy="1371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8" name="Google Shape;228;p18"/>
          <p:cNvCxnSpPr/>
          <p:nvPr/>
        </p:nvCxnSpPr>
        <p:spPr>
          <a:xfrm>
            <a:off x="7626350" y="857250"/>
            <a:ext cx="498475" cy="49847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9" name="Google Shape;229;p18"/>
          <p:cNvCxnSpPr/>
          <p:nvPr/>
        </p:nvCxnSpPr>
        <p:spPr>
          <a:xfrm>
            <a:off x="550863" y="5578475"/>
            <a:ext cx="417512" cy="419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0" name="Google Shape;230;p18"/>
          <p:cNvCxnSpPr/>
          <p:nvPr/>
        </p:nvCxnSpPr>
        <p:spPr>
          <a:xfrm>
            <a:off x="293688" y="4703763"/>
            <a:ext cx="1295400" cy="1296987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1" name="Google Shape;231;p18"/>
          <p:cNvSpPr txBox="1"/>
          <p:nvPr/>
        </p:nvSpPr>
        <p:spPr>
          <a:xfrm>
            <a:off x="1114425" y="2544763"/>
            <a:ext cx="8043863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1981200" y="1768475"/>
            <a:ext cx="1822450" cy="2419350"/>
          </a:xfrm>
          <a:custGeom>
            <a:avLst/>
            <a:gdLst/>
            <a:ahLst/>
            <a:cxnLst/>
            <a:rect l="l" t="t" r="r" b="b"/>
            <a:pathLst>
              <a:path w="2430463" h="3225800" extrusionOk="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2173288" y="1768475"/>
            <a:ext cx="1824037" cy="2419350"/>
          </a:xfrm>
          <a:custGeom>
            <a:avLst/>
            <a:gdLst/>
            <a:ahLst/>
            <a:cxnLst/>
            <a:rect l="l" t="t" r="r" b="b"/>
            <a:pathLst>
              <a:path w="2430463" h="3225800" extrusionOk="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2171701" y="4560888"/>
            <a:ext cx="517207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Arial"/>
              </a:rPr>
              <a:t>For queries</a:t>
            </a:r>
            <a:endParaRPr sz="1800" b="1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Arial"/>
              </a:rPr>
              <a:t>Email: kriti.e13537@cumail.in</a:t>
            </a:r>
            <a:endParaRPr sz="1800" b="1" i="0" u="none" strike="noStrike" cap="none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t 2.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8567</TotalTime>
  <Words>572</Words>
  <Application>Microsoft Office PowerPoint</Application>
  <PresentationFormat>On-screen Show (4:3)</PresentationFormat>
  <Paragraphs>80</Paragraphs>
  <Slides>17</Slides>
  <Notes>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Unit 2.1</vt:lpstr>
      <vt:lpstr>CorelDRAW</vt:lpstr>
      <vt:lpstr>Slide 1</vt:lpstr>
      <vt:lpstr> Course Objectives</vt:lpstr>
      <vt:lpstr>Course Outcomes</vt:lpstr>
      <vt:lpstr>Unit-1 Syllabus</vt:lpstr>
      <vt:lpstr>Topic to be Covered</vt:lpstr>
      <vt:lpstr>Pigeonhole Principle </vt:lpstr>
      <vt:lpstr>Slide 7</vt:lpstr>
      <vt:lpstr>Pigeonhole Principle  </vt:lpstr>
      <vt:lpstr>Example 1: Matching socks</vt:lpstr>
      <vt:lpstr>Example 2: Birthdays</vt:lpstr>
      <vt:lpstr>Example 3: Days of the week</vt:lpstr>
      <vt:lpstr>Example 4: Handshake Problem</vt:lpstr>
      <vt:lpstr>Next Lecture</vt:lpstr>
      <vt:lpstr>Practice Questions</vt:lpstr>
      <vt:lpstr>References</vt:lpstr>
      <vt:lpstr>Class-Wise Feedback</vt:lpstr>
      <vt:lpstr>Slide 17</vt:lpstr>
    </vt:vector>
  </TitlesOfParts>
  <Company>University of Florida, Department of Statistics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I. Introduction</dc:title>
  <dc:creator>Administrator</dc:creator>
  <cp:lastModifiedBy>LENOVO</cp:lastModifiedBy>
  <cp:revision>373</cp:revision>
  <dcterms:created xsi:type="dcterms:W3CDTF">2008-06-16T13:44:56Z</dcterms:created>
  <dcterms:modified xsi:type="dcterms:W3CDTF">2025-12-05T04:47:07Z</dcterms:modified>
</cp:coreProperties>
</file>